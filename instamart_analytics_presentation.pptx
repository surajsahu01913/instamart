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62" r:id="rId1"/>
  </p:sldMasterIdLst>
  <p:sldIdLst>
    <p:sldId id="256" r:id="rId2"/>
    <p:sldId id="257" r:id="rId3"/>
    <p:sldId id="258" r:id="rId4"/>
    <p:sldId id="269" r:id="rId5"/>
    <p:sldId id="270" r:id="rId6"/>
    <p:sldId id="271" r:id="rId7"/>
    <p:sldId id="272" r:id="rId8"/>
    <p:sldId id="273" r:id="rId9"/>
    <p:sldId id="274" r:id="rId10"/>
    <p:sldId id="275" r:id="rId11"/>
    <p:sldId id="260" r:id="rId12"/>
    <p:sldId id="261" r:id="rId13"/>
    <p:sldId id="262" r:id="rId14"/>
    <p:sldId id="263" r:id="rId15"/>
    <p:sldId id="277" r:id="rId16"/>
    <p:sldId id="278" r:id="rId17"/>
    <p:sldId id="264" r:id="rId18"/>
    <p:sldId id="265" r:id="rId19"/>
    <p:sldId id="279" r:id="rId20"/>
  </p:sldIdLst>
  <p:sldSz cx="12347575" cy="7127875"/>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5" userDrawn="1">
          <p15:clr>
            <a:srgbClr val="A4A3A4"/>
          </p15:clr>
        </p15:guide>
        <p15:guide id="2" pos="388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882" y="66"/>
      </p:cViewPr>
      <p:guideLst>
        <p:guide orient="horz" pos="2245"/>
        <p:guide pos="388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7150" y="0"/>
            <a:ext cx="12387235" cy="7126019"/>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726755" y="1944764"/>
            <a:ext cx="6902640" cy="1575172"/>
          </a:xfrm>
        </p:spPr>
        <p:txBody>
          <a:bodyPr anchor="b">
            <a:noAutofit/>
          </a:bodyPr>
          <a:lstStyle>
            <a:lvl1pPr algn="ctr">
              <a:defRPr sz="5469">
                <a:effectLst/>
              </a:defRPr>
            </a:lvl1pPr>
          </a:lstStyle>
          <a:p>
            <a:r>
              <a:rPr lang="en-US"/>
              <a:t>Click to edit Master title style</a:t>
            </a:r>
            <a:endParaRPr lang="en-US" dirty="0"/>
          </a:p>
        </p:txBody>
      </p:sp>
      <p:sp>
        <p:nvSpPr>
          <p:cNvPr id="3" name="Subtitle 2"/>
          <p:cNvSpPr>
            <a:spLocks noGrp="1"/>
          </p:cNvSpPr>
          <p:nvPr>
            <p:ph type="subTitle" idx="1"/>
          </p:nvPr>
        </p:nvSpPr>
        <p:spPr>
          <a:xfrm>
            <a:off x="2726755" y="3801530"/>
            <a:ext cx="6902640" cy="1372778"/>
          </a:xfrm>
        </p:spPr>
        <p:txBody>
          <a:bodyPr anchor="t">
            <a:normAutofit/>
          </a:bodyPr>
          <a:lstStyle>
            <a:lvl1pPr marL="0" indent="0" algn="ctr">
              <a:buNone/>
              <a:defRPr sz="2127">
                <a:solidFill>
                  <a:schemeClr val="tx1"/>
                </a:solidFill>
              </a:defRPr>
            </a:lvl1pPr>
            <a:lvl2pPr marL="463052" indent="0" algn="ctr">
              <a:buNone/>
              <a:defRPr>
                <a:solidFill>
                  <a:schemeClr val="tx1">
                    <a:tint val="75000"/>
                  </a:schemeClr>
                </a:solidFill>
              </a:defRPr>
            </a:lvl2pPr>
            <a:lvl3pPr marL="926104" indent="0" algn="ctr">
              <a:buNone/>
              <a:defRPr>
                <a:solidFill>
                  <a:schemeClr val="tx1">
                    <a:tint val="75000"/>
                  </a:schemeClr>
                </a:solidFill>
              </a:defRPr>
            </a:lvl3pPr>
            <a:lvl4pPr marL="1389156" indent="0" algn="ctr">
              <a:buNone/>
              <a:defRPr>
                <a:solidFill>
                  <a:schemeClr val="tx1">
                    <a:tint val="75000"/>
                  </a:schemeClr>
                </a:solidFill>
              </a:defRPr>
            </a:lvl4pPr>
            <a:lvl5pPr marL="1852209" indent="0" algn="ctr">
              <a:buNone/>
              <a:defRPr>
                <a:solidFill>
                  <a:schemeClr val="tx1">
                    <a:tint val="75000"/>
                  </a:schemeClr>
                </a:solidFill>
              </a:defRPr>
            </a:lvl5pPr>
            <a:lvl6pPr marL="2315261" indent="0" algn="ctr">
              <a:buNone/>
              <a:defRPr>
                <a:solidFill>
                  <a:schemeClr val="tx1">
                    <a:tint val="75000"/>
                  </a:schemeClr>
                </a:solidFill>
              </a:defRPr>
            </a:lvl6pPr>
            <a:lvl7pPr marL="2778313" indent="0" algn="ctr">
              <a:buNone/>
              <a:defRPr>
                <a:solidFill>
                  <a:schemeClr val="tx1">
                    <a:tint val="75000"/>
                  </a:schemeClr>
                </a:solidFill>
              </a:defRPr>
            </a:lvl7pPr>
            <a:lvl8pPr marL="3241365" indent="0" algn="ctr">
              <a:buNone/>
              <a:defRPr>
                <a:solidFill>
                  <a:schemeClr val="tx1">
                    <a:tint val="75000"/>
                  </a:schemeClr>
                </a:solidFill>
              </a:defRPr>
            </a:lvl8pPr>
            <a:lvl9pPr marL="3704417"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085102" y="5235904"/>
            <a:ext cx="908919" cy="290395"/>
          </a:xfrm>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a:xfrm>
            <a:off x="2726754" y="5235904"/>
            <a:ext cx="5281176" cy="290395"/>
          </a:xfrm>
        </p:spPr>
        <p:txBody>
          <a:bodyPr/>
          <a:lstStyle/>
          <a:p>
            <a:endParaRPr lang="en-US"/>
          </a:p>
        </p:txBody>
      </p:sp>
      <p:sp>
        <p:nvSpPr>
          <p:cNvPr id="6" name="Slide Number Placeholder 5"/>
          <p:cNvSpPr>
            <a:spLocks noGrp="1"/>
          </p:cNvSpPr>
          <p:nvPr>
            <p:ph type="sldNum" sz="quarter" idx="12"/>
          </p:nvPr>
        </p:nvSpPr>
        <p:spPr>
          <a:xfrm>
            <a:off x="9071194" y="5235904"/>
            <a:ext cx="558200" cy="290395"/>
          </a:xfrm>
        </p:spPr>
        <p:txBody>
          <a:bodyPr/>
          <a:lstStyle/>
          <a:p>
            <a:fld id="{C1FF6DA9-008F-8B48-92A6-B652298478BF}" type="slidenum">
              <a:rPr lang="en-US" smtClean="0"/>
              <a:t>‹#›</a:t>
            </a:fld>
            <a:endParaRPr lang="en-US"/>
          </a:p>
        </p:txBody>
      </p:sp>
      <p:cxnSp>
        <p:nvCxnSpPr>
          <p:cNvPr id="15" name="Straight Connector 14"/>
          <p:cNvCxnSpPr/>
          <p:nvPr/>
        </p:nvCxnSpPr>
        <p:spPr>
          <a:xfrm>
            <a:off x="2726755" y="3660733"/>
            <a:ext cx="6902639"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4597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413985" y="2516755"/>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6214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40782" y="1821574"/>
            <a:ext cx="8262796" cy="1894233"/>
          </a:xfrm>
        </p:spPr>
        <p:txBody>
          <a:bodyPr anchor="b">
            <a:normAutofit/>
          </a:bodyPr>
          <a:lstStyle>
            <a:lvl1pPr algn="ctr">
              <a:defRPr sz="4456" b="0" cap="none"/>
            </a:lvl1pPr>
          </a:lstStyle>
          <a:p>
            <a:r>
              <a:rPr lang="en-US"/>
              <a:t>Click to edit Master title style</a:t>
            </a:r>
            <a:endParaRPr lang="en-US" dirty="0"/>
          </a:p>
        </p:txBody>
      </p:sp>
      <p:sp>
        <p:nvSpPr>
          <p:cNvPr id="3" name="Text Placeholder 2"/>
          <p:cNvSpPr>
            <a:spLocks noGrp="1"/>
          </p:cNvSpPr>
          <p:nvPr>
            <p:ph type="body" idx="1"/>
          </p:nvPr>
        </p:nvSpPr>
        <p:spPr>
          <a:xfrm>
            <a:off x="2040780" y="3997401"/>
            <a:ext cx="8262798" cy="992110"/>
          </a:xfrm>
        </p:spPr>
        <p:txBody>
          <a:bodyPr anchor="t">
            <a:normAutofit/>
          </a:bodyPr>
          <a:lstStyle>
            <a:lvl1pPr marL="0" indent="0" algn="ctr">
              <a:buNone/>
              <a:defRPr sz="2431">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2038406" y="3856603"/>
            <a:ext cx="82675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890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413985" y="2516755"/>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15017" y="2661073"/>
            <a:ext cx="4778512" cy="34403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0220" y="2661073"/>
            <a:ext cx="4778512" cy="34403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8971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11930" y="2763151"/>
            <a:ext cx="4778512" cy="598939"/>
          </a:xfrm>
        </p:spPr>
        <p:txBody>
          <a:bodyPr anchor="b">
            <a:noAutofit/>
          </a:bodyPr>
          <a:lstStyle>
            <a:lvl1pPr marL="0" indent="0">
              <a:spcBef>
                <a:spcPts val="681"/>
              </a:spcBef>
              <a:spcAft>
                <a:spcPts val="608"/>
              </a:spcAft>
              <a:buNone/>
              <a:defRPr sz="2836" b="0">
                <a:solidFill>
                  <a:schemeClr val="accent1"/>
                </a:solidFill>
              </a:defRPr>
            </a:lvl1pPr>
            <a:lvl2pPr marL="463052" indent="0">
              <a:buNone/>
              <a:defRPr sz="2026" b="1"/>
            </a:lvl2pPr>
            <a:lvl3pPr marL="926104" indent="0">
              <a:buNone/>
              <a:defRPr sz="1823" b="1"/>
            </a:lvl3pPr>
            <a:lvl4pPr marL="1389156" indent="0">
              <a:buNone/>
              <a:defRPr sz="1620" b="1"/>
            </a:lvl4pPr>
            <a:lvl5pPr marL="1852209" indent="0">
              <a:buNone/>
              <a:defRPr sz="1620" b="1"/>
            </a:lvl5pPr>
            <a:lvl6pPr marL="2315261" indent="0">
              <a:buNone/>
              <a:defRPr sz="1620" b="1"/>
            </a:lvl6pPr>
            <a:lvl7pPr marL="2778313" indent="0">
              <a:buNone/>
              <a:defRPr sz="1620" b="1"/>
            </a:lvl7pPr>
            <a:lvl8pPr marL="3241365" indent="0">
              <a:buNone/>
              <a:defRPr sz="1620" b="1"/>
            </a:lvl8pPr>
            <a:lvl9pPr marL="3704417" indent="0">
              <a:buNone/>
              <a:defRPr sz="1620" b="1"/>
            </a:lvl9pPr>
          </a:lstStyle>
          <a:p>
            <a:pPr lvl="0"/>
            <a:r>
              <a:rPr lang="en-US"/>
              <a:t>Click to edit Master text styles</a:t>
            </a:r>
          </a:p>
        </p:txBody>
      </p:sp>
      <p:sp>
        <p:nvSpPr>
          <p:cNvPr id="4" name="Content Placeholder 3"/>
          <p:cNvSpPr>
            <a:spLocks noGrp="1"/>
          </p:cNvSpPr>
          <p:nvPr>
            <p:ph sz="half" idx="2"/>
          </p:nvPr>
        </p:nvSpPr>
        <p:spPr>
          <a:xfrm>
            <a:off x="1311930" y="3370891"/>
            <a:ext cx="4778512" cy="273620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9538" y="2763151"/>
            <a:ext cx="4778512" cy="598939"/>
          </a:xfrm>
        </p:spPr>
        <p:txBody>
          <a:bodyPr anchor="b">
            <a:noAutofit/>
          </a:bodyPr>
          <a:lstStyle>
            <a:lvl1pPr marL="0" indent="0">
              <a:spcBef>
                <a:spcPts val="681"/>
              </a:spcBef>
              <a:spcAft>
                <a:spcPts val="608"/>
              </a:spcAft>
              <a:buNone/>
              <a:defRPr sz="2836" b="0">
                <a:solidFill>
                  <a:schemeClr val="accent1"/>
                </a:solidFill>
              </a:defRPr>
            </a:lvl1pPr>
            <a:lvl2pPr marL="463052" indent="0">
              <a:buNone/>
              <a:defRPr sz="2026" b="1"/>
            </a:lvl2pPr>
            <a:lvl3pPr marL="926104" indent="0">
              <a:buNone/>
              <a:defRPr sz="1823" b="1"/>
            </a:lvl3pPr>
            <a:lvl4pPr marL="1389156" indent="0">
              <a:buNone/>
              <a:defRPr sz="1620" b="1"/>
            </a:lvl4pPr>
            <a:lvl5pPr marL="1852209" indent="0">
              <a:buNone/>
              <a:defRPr sz="1620" b="1"/>
            </a:lvl5pPr>
            <a:lvl6pPr marL="2315261" indent="0">
              <a:buNone/>
              <a:defRPr sz="1620" b="1"/>
            </a:lvl6pPr>
            <a:lvl7pPr marL="2778313" indent="0">
              <a:buNone/>
              <a:defRPr sz="1620" b="1"/>
            </a:lvl7pPr>
            <a:lvl8pPr marL="3241365" indent="0">
              <a:buNone/>
              <a:defRPr sz="1620" b="1"/>
            </a:lvl8pPr>
            <a:lvl9pPr marL="3704417" indent="0">
              <a:buNone/>
              <a:defRPr sz="1620" b="1"/>
            </a:lvl9pPr>
          </a:lstStyle>
          <a:p>
            <a:pPr lvl="0"/>
            <a:r>
              <a:rPr lang="en-US"/>
              <a:t>Click to edit Master text styles</a:t>
            </a:r>
          </a:p>
        </p:txBody>
      </p:sp>
      <p:sp>
        <p:nvSpPr>
          <p:cNvPr id="6" name="Content Placeholder 5"/>
          <p:cNvSpPr>
            <a:spLocks noGrp="1"/>
          </p:cNvSpPr>
          <p:nvPr>
            <p:ph sz="quarter" idx="4"/>
          </p:nvPr>
        </p:nvSpPr>
        <p:spPr>
          <a:xfrm>
            <a:off x="6259538" y="3370891"/>
            <a:ext cx="4778512" cy="273620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18" name="Straight Connector 17"/>
          <p:cNvCxnSpPr/>
          <p:nvPr/>
        </p:nvCxnSpPr>
        <p:spPr>
          <a:xfrm>
            <a:off x="1413985" y="2516755"/>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6856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413985" y="2516755"/>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2611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4845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10321" y="1443175"/>
            <a:ext cx="3765904" cy="1425575"/>
          </a:xfrm>
        </p:spPr>
        <p:txBody>
          <a:bodyPr anchor="b">
            <a:normAutofit/>
          </a:bodyPr>
          <a:lstStyle>
            <a:lvl1pPr algn="ctr">
              <a:defRPr sz="2431" b="0"/>
            </a:lvl1pPr>
          </a:lstStyle>
          <a:p>
            <a:r>
              <a:rPr lang="en-US"/>
              <a:t>Click to edit Master title style</a:t>
            </a:r>
            <a:endParaRPr lang="en-US" dirty="0"/>
          </a:p>
        </p:txBody>
      </p:sp>
      <p:sp>
        <p:nvSpPr>
          <p:cNvPr id="3" name="Content Placeholder 2"/>
          <p:cNvSpPr>
            <a:spLocks noGrp="1"/>
          </p:cNvSpPr>
          <p:nvPr>
            <p:ph idx="1"/>
          </p:nvPr>
        </p:nvSpPr>
        <p:spPr>
          <a:xfrm>
            <a:off x="5487812" y="1020780"/>
            <a:ext cx="5539259" cy="508631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10321" y="3150343"/>
            <a:ext cx="3765904" cy="2534360"/>
          </a:xfrm>
        </p:spPr>
        <p:txBody>
          <a:bodyPr anchor="t">
            <a:normAutofit/>
          </a:bodyPr>
          <a:lstStyle>
            <a:lvl1pPr marL="0" indent="0" algn="ctr">
              <a:buNone/>
              <a:defRPr sz="1620"/>
            </a:lvl1pPr>
            <a:lvl2pPr marL="463052" indent="0">
              <a:buNone/>
              <a:defRPr sz="1215"/>
            </a:lvl2pPr>
            <a:lvl3pPr marL="926104" indent="0">
              <a:buNone/>
              <a:defRPr sz="1013"/>
            </a:lvl3pPr>
            <a:lvl4pPr marL="1389156" indent="0">
              <a:buNone/>
              <a:defRPr sz="912"/>
            </a:lvl4pPr>
            <a:lvl5pPr marL="1852209" indent="0">
              <a:buNone/>
              <a:defRPr sz="912"/>
            </a:lvl5pPr>
            <a:lvl6pPr marL="2315261" indent="0">
              <a:buNone/>
              <a:defRPr sz="912"/>
            </a:lvl6pPr>
            <a:lvl7pPr marL="2778313" indent="0">
              <a:buNone/>
              <a:defRPr sz="912"/>
            </a:lvl7pPr>
            <a:lvl8pPr marL="3241365" indent="0">
              <a:buNone/>
              <a:defRPr sz="912"/>
            </a:lvl8pPr>
            <a:lvl9pPr marL="3704417" indent="0">
              <a:buNone/>
              <a:defRPr sz="912"/>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413985" y="3027147"/>
            <a:ext cx="35593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0444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11929" y="1957964"/>
            <a:ext cx="6321464" cy="1425575"/>
          </a:xfrm>
        </p:spPr>
        <p:txBody>
          <a:bodyPr anchor="b">
            <a:normAutofit/>
          </a:bodyPr>
          <a:lstStyle>
            <a:lvl1pPr algn="ctr">
              <a:defRPr sz="2836"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198125" y="1082381"/>
            <a:ext cx="3102437" cy="4963113"/>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20"/>
            </a:lvl1pPr>
            <a:lvl2pPr marL="463052" indent="0">
              <a:buNone/>
              <a:defRPr sz="1620"/>
            </a:lvl2pPr>
            <a:lvl3pPr marL="926104" indent="0">
              <a:buNone/>
              <a:defRPr sz="1620"/>
            </a:lvl3pPr>
            <a:lvl4pPr marL="1389156" indent="0">
              <a:buNone/>
              <a:defRPr sz="1620"/>
            </a:lvl4pPr>
            <a:lvl5pPr marL="1852209" indent="0">
              <a:buNone/>
              <a:defRPr sz="1620"/>
            </a:lvl5pPr>
            <a:lvl6pPr marL="2315261" indent="0">
              <a:buNone/>
              <a:defRPr sz="1620"/>
            </a:lvl6pPr>
            <a:lvl7pPr marL="2778313" indent="0">
              <a:buNone/>
              <a:defRPr sz="1620"/>
            </a:lvl7pPr>
            <a:lvl8pPr marL="3241365" indent="0">
              <a:buNone/>
              <a:defRPr sz="1620"/>
            </a:lvl8pPr>
            <a:lvl9pPr marL="3704417" indent="0">
              <a:buNone/>
              <a:defRPr sz="1620"/>
            </a:lvl9pPr>
          </a:lstStyle>
          <a:p>
            <a:r>
              <a:rPr lang="en-US"/>
              <a:t>Click icon to add picture</a:t>
            </a:r>
            <a:endParaRPr lang="en-US" dirty="0"/>
          </a:p>
        </p:txBody>
      </p:sp>
      <p:sp>
        <p:nvSpPr>
          <p:cNvPr id="4" name="Text Placeholder 3"/>
          <p:cNvSpPr>
            <a:spLocks noGrp="1"/>
          </p:cNvSpPr>
          <p:nvPr>
            <p:ph type="body" sz="half" idx="2"/>
          </p:nvPr>
        </p:nvSpPr>
        <p:spPr>
          <a:xfrm>
            <a:off x="1311929" y="3383539"/>
            <a:ext cx="6321464" cy="1900767"/>
          </a:xfrm>
        </p:spPr>
        <p:txBody>
          <a:bodyPr anchor="t">
            <a:normAutofit/>
          </a:bodyPr>
          <a:lstStyle>
            <a:lvl1pPr marL="0" indent="0" algn="ctr">
              <a:buNone/>
              <a:defRPr sz="1823"/>
            </a:lvl1pPr>
            <a:lvl2pPr marL="463052" indent="0">
              <a:buNone/>
              <a:defRPr sz="1215"/>
            </a:lvl2pPr>
            <a:lvl3pPr marL="926104" indent="0">
              <a:buNone/>
              <a:defRPr sz="1013"/>
            </a:lvl3pPr>
            <a:lvl4pPr marL="1389156" indent="0">
              <a:buNone/>
              <a:defRPr sz="912"/>
            </a:lvl4pPr>
            <a:lvl5pPr marL="1852209" indent="0">
              <a:buNone/>
              <a:defRPr sz="912"/>
            </a:lvl5pPr>
            <a:lvl6pPr marL="2315261" indent="0">
              <a:buNone/>
              <a:defRPr sz="912"/>
            </a:lvl6pPr>
            <a:lvl7pPr marL="2778313" indent="0">
              <a:buNone/>
              <a:defRPr sz="912"/>
            </a:lvl7pPr>
            <a:lvl8pPr marL="3241365" indent="0">
              <a:buNone/>
              <a:defRPr sz="912"/>
            </a:lvl8pPr>
            <a:lvl9pPr marL="3704417" indent="0">
              <a:buNone/>
              <a:defRPr sz="912"/>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4782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11931" y="5004911"/>
            <a:ext cx="9732289" cy="589040"/>
          </a:xfrm>
        </p:spPr>
        <p:txBody>
          <a:bodyPr anchor="b">
            <a:normAutofit/>
          </a:bodyPr>
          <a:lstStyle>
            <a:lvl1pPr algn="ctr">
              <a:defRPr sz="2431"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54716" y="1082380"/>
            <a:ext cx="10234928" cy="346714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20"/>
            </a:lvl1pPr>
            <a:lvl2pPr marL="463052" indent="0">
              <a:buNone/>
              <a:defRPr sz="1620"/>
            </a:lvl2pPr>
            <a:lvl3pPr marL="926104" indent="0">
              <a:buNone/>
              <a:defRPr sz="1620"/>
            </a:lvl3pPr>
            <a:lvl4pPr marL="1389156" indent="0">
              <a:buNone/>
              <a:defRPr sz="1620"/>
            </a:lvl4pPr>
            <a:lvl5pPr marL="1852209" indent="0">
              <a:buNone/>
              <a:defRPr sz="1620"/>
            </a:lvl5pPr>
            <a:lvl6pPr marL="2315261" indent="0">
              <a:buNone/>
              <a:defRPr sz="1620"/>
            </a:lvl6pPr>
            <a:lvl7pPr marL="2778313" indent="0">
              <a:buNone/>
              <a:defRPr sz="1620"/>
            </a:lvl7pPr>
            <a:lvl8pPr marL="3241365" indent="0">
              <a:buNone/>
              <a:defRPr sz="1620"/>
            </a:lvl8pPr>
            <a:lvl9pPr marL="3704417" indent="0">
              <a:buNone/>
              <a:defRPr sz="1620"/>
            </a:lvl9pPr>
          </a:lstStyle>
          <a:p>
            <a:r>
              <a:rPr lang="en-US"/>
              <a:t>Click icon to add picture</a:t>
            </a:r>
            <a:endParaRPr lang="en-US" dirty="0"/>
          </a:p>
        </p:txBody>
      </p:sp>
      <p:sp>
        <p:nvSpPr>
          <p:cNvPr id="4" name="Text Placeholder 3"/>
          <p:cNvSpPr>
            <a:spLocks noGrp="1"/>
          </p:cNvSpPr>
          <p:nvPr>
            <p:ph type="body" sz="half" idx="2"/>
          </p:nvPr>
        </p:nvSpPr>
        <p:spPr>
          <a:xfrm>
            <a:off x="1311931" y="5593951"/>
            <a:ext cx="9732289" cy="513140"/>
          </a:xfrm>
        </p:spPr>
        <p:txBody>
          <a:bodyPr>
            <a:normAutofit/>
          </a:bodyPr>
          <a:lstStyle>
            <a:lvl1pPr marL="0" indent="0" algn="ctr">
              <a:buNone/>
              <a:defRPr sz="1418"/>
            </a:lvl1pPr>
            <a:lvl2pPr marL="463052" indent="0">
              <a:buNone/>
              <a:defRPr sz="1215"/>
            </a:lvl2pPr>
            <a:lvl3pPr marL="926104" indent="0">
              <a:buNone/>
              <a:defRPr sz="1013"/>
            </a:lvl3pPr>
            <a:lvl4pPr marL="1389156" indent="0">
              <a:buNone/>
              <a:defRPr sz="912"/>
            </a:lvl4pPr>
            <a:lvl5pPr marL="1852209" indent="0">
              <a:buNone/>
              <a:defRPr sz="912"/>
            </a:lvl5pPr>
            <a:lvl6pPr marL="2315261" indent="0">
              <a:buNone/>
              <a:defRPr sz="912"/>
            </a:lvl6pPr>
            <a:lvl7pPr marL="2778313" indent="0">
              <a:buNone/>
              <a:defRPr sz="912"/>
            </a:lvl7pPr>
            <a:lvl8pPr marL="3241365" indent="0">
              <a:buNone/>
              <a:defRPr sz="912"/>
            </a:lvl8pPr>
            <a:lvl9pPr marL="3704417" indent="0">
              <a:buNone/>
              <a:defRPr sz="912"/>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8068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20506" y="1020780"/>
            <a:ext cx="9715139" cy="3071148"/>
          </a:xfrm>
        </p:spPr>
        <p:txBody>
          <a:bodyPr anchor="ctr">
            <a:normAutofit/>
          </a:bodyPr>
          <a:lstStyle>
            <a:lvl1pPr algn="ctr">
              <a:defRPr sz="3241" b="0" cap="none"/>
            </a:lvl1pPr>
          </a:lstStyle>
          <a:p>
            <a:r>
              <a:rPr lang="en-US"/>
              <a:t>Click to edit Master title style</a:t>
            </a:r>
            <a:endParaRPr lang="en-US" dirty="0"/>
          </a:p>
        </p:txBody>
      </p:sp>
      <p:sp>
        <p:nvSpPr>
          <p:cNvPr id="3" name="Text Placeholder 2"/>
          <p:cNvSpPr>
            <a:spLocks noGrp="1"/>
          </p:cNvSpPr>
          <p:nvPr>
            <p:ph type="body" idx="1"/>
          </p:nvPr>
        </p:nvSpPr>
        <p:spPr>
          <a:xfrm>
            <a:off x="1320506" y="4514321"/>
            <a:ext cx="9715139" cy="1592772"/>
          </a:xfrm>
        </p:spPr>
        <p:txBody>
          <a:bodyPr anchor="ctr">
            <a:normAutofit/>
          </a:bodyPr>
          <a:lstStyle>
            <a:lvl1pPr marL="0" indent="0" algn="ctr">
              <a:buNone/>
              <a:defRPr sz="2026">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13985" y="4303123"/>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1588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64667" y="1020781"/>
            <a:ext cx="9415024" cy="2463958"/>
          </a:xfrm>
        </p:spPr>
        <p:txBody>
          <a:bodyPr anchor="ctr">
            <a:normAutofit/>
          </a:bodyPr>
          <a:lstStyle>
            <a:lvl1pPr algn="ctr">
              <a:defRPr sz="3241"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96183" y="3484739"/>
            <a:ext cx="8951994" cy="607189"/>
          </a:xfrm>
        </p:spPr>
        <p:txBody>
          <a:bodyPr anchor="ctr">
            <a:normAutofit/>
          </a:bodyPr>
          <a:lstStyle>
            <a:lvl1pPr marL="0" indent="0" algn="r">
              <a:buFontTx/>
              <a:buNone/>
              <a:defRPr sz="2026"/>
            </a:lvl1pPr>
            <a:lvl2pPr marL="463052" indent="0">
              <a:buFontTx/>
              <a:buNone/>
              <a:defRPr/>
            </a:lvl2pPr>
            <a:lvl3pPr marL="926104" indent="0">
              <a:buFontTx/>
              <a:buNone/>
              <a:defRPr/>
            </a:lvl3pPr>
            <a:lvl4pPr marL="1389156" indent="0">
              <a:buFontTx/>
              <a:buNone/>
              <a:defRPr/>
            </a:lvl4pPr>
            <a:lvl5pPr marL="1852209" indent="0">
              <a:buFontTx/>
              <a:buNone/>
              <a:defRPr/>
            </a:lvl5pPr>
          </a:lstStyle>
          <a:p>
            <a:pPr lvl="0"/>
            <a:r>
              <a:rPr lang="en-US"/>
              <a:t>Click to edit Master text styles</a:t>
            </a:r>
          </a:p>
        </p:txBody>
      </p:sp>
      <p:sp>
        <p:nvSpPr>
          <p:cNvPr id="3" name="Text Placeholder 2"/>
          <p:cNvSpPr>
            <a:spLocks noGrp="1"/>
          </p:cNvSpPr>
          <p:nvPr>
            <p:ph type="body" idx="1"/>
          </p:nvPr>
        </p:nvSpPr>
        <p:spPr>
          <a:xfrm>
            <a:off x="1311931" y="4514321"/>
            <a:ext cx="9732289" cy="1592772"/>
          </a:xfrm>
        </p:spPr>
        <p:txBody>
          <a:bodyPr anchor="ctr">
            <a:normAutofit/>
          </a:bodyPr>
          <a:lstStyle>
            <a:lvl1pPr marL="0" indent="0" algn="ctr">
              <a:buNone/>
              <a:defRPr sz="2026">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73013" y="914589"/>
            <a:ext cx="617379" cy="607788"/>
          </a:xfrm>
          <a:prstGeom prst="rect">
            <a:avLst/>
          </a:prstGeom>
        </p:spPr>
        <p:txBody>
          <a:bodyPr vert="horz" lIns="92607" tIns="46303" rIns="92607" bIns="46303" rtlCol="0" anchor="ctr">
            <a:noAutofit/>
          </a:bodyPr>
          <a:lstStyle/>
          <a:p>
            <a:pPr lvl="0"/>
            <a:r>
              <a:rPr lang="en-US" sz="8102" dirty="0">
                <a:solidFill>
                  <a:schemeClr val="tx1"/>
                </a:solidFill>
                <a:effectLst/>
              </a:rPr>
              <a:t>“</a:t>
            </a:r>
          </a:p>
        </p:txBody>
      </p:sp>
      <p:sp>
        <p:nvSpPr>
          <p:cNvPr id="15" name="TextBox 14"/>
          <p:cNvSpPr txBox="1"/>
          <p:nvPr/>
        </p:nvSpPr>
        <p:spPr>
          <a:xfrm>
            <a:off x="10735531" y="2939152"/>
            <a:ext cx="617379" cy="607788"/>
          </a:xfrm>
          <a:prstGeom prst="rect">
            <a:avLst/>
          </a:prstGeom>
        </p:spPr>
        <p:txBody>
          <a:bodyPr vert="horz" lIns="92607" tIns="46303" rIns="92607" bIns="46303" rtlCol="0" anchor="ctr">
            <a:noAutofit/>
          </a:bodyPr>
          <a:lstStyle/>
          <a:p>
            <a:pPr lvl="0" algn="r"/>
            <a:r>
              <a:rPr lang="en-US" sz="8102" dirty="0">
                <a:solidFill>
                  <a:schemeClr val="tx1"/>
                </a:solidFill>
                <a:effectLst/>
              </a:rPr>
              <a:t>”</a:t>
            </a:r>
          </a:p>
        </p:txBody>
      </p:sp>
      <p:cxnSp>
        <p:nvCxnSpPr>
          <p:cNvPr id="19" name="Straight Connector 18"/>
          <p:cNvCxnSpPr/>
          <p:nvPr/>
        </p:nvCxnSpPr>
        <p:spPr>
          <a:xfrm>
            <a:off x="1413985" y="4303123"/>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3926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11932" y="3438780"/>
            <a:ext cx="9732291" cy="1526600"/>
          </a:xfrm>
        </p:spPr>
        <p:txBody>
          <a:bodyPr anchor="b">
            <a:normAutofit/>
          </a:bodyPr>
          <a:lstStyle>
            <a:lvl1pPr algn="l">
              <a:defRPr sz="3241" b="0" cap="none"/>
            </a:lvl1pPr>
          </a:lstStyle>
          <a:p>
            <a:r>
              <a:rPr lang="en-US"/>
              <a:t>Click to edit Master title style</a:t>
            </a:r>
            <a:endParaRPr lang="en-US" dirty="0"/>
          </a:p>
        </p:txBody>
      </p:sp>
      <p:sp>
        <p:nvSpPr>
          <p:cNvPr id="3" name="Text Placeholder 2"/>
          <p:cNvSpPr>
            <a:spLocks noGrp="1"/>
          </p:cNvSpPr>
          <p:nvPr>
            <p:ph type="body" idx="1"/>
          </p:nvPr>
        </p:nvSpPr>
        <p:spPr>
          <a:xfrm>
            <a:off x="1311931" y="4965380"/>
            <a:ext cx="9732291" cy="894258"/>
          </a:xfrm>
        </p:spPr>
        <p:txBody>
          <a:bodyPr anchor="t">
            <a:normAutofit/>
          </a:bodyPr>
          <a:lstStyle>
            <a:lvl1pPr marL="0" indent="0" algn="l">
              <a:buNone/>
              <a:defRPr sz="2026">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3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64667" y="1020781"/>
            <a:ext cx="9415024" cy="2331960"/>
          </a:xfrm>
        </p:spPr>
        <p:txBody>
          <a:bodyPr anchor="ctr">
            <a:normAutofit/>
          </a:bodyPr>
          <a:lstStyle>
            <a:lvl1pPr algn="ctr">
              <a:defRPr sz="3241"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311931" y="3782526"/>
            <a:ext cx="9732291" cy="921872"/>
          </a:xfrm>
        </p:spPr>
        <p:txBody>
          <a:bodyPr anchor="b">
            <a:normAutofit/>
          </a:bodyPr>
          <a:lstStyle>
            <a:lvl1pPr marL="0" indent="0" algn="l">
              <a:spcBef>
                <a:spcPts val="0"/>
              </a:spcBef>
              <a:buNone/>
              <a:defRPr sz="2431">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311931" y="4707918"/>
            <a:ext cx="9732291" cy="1399175"/>
          </a:xfrm>
        </p:spPr>
        <p:txBody>
          <a:bodyPr anchor="t">
            <a:normAutofit/>
          </a:bodyPr>
          <a:lstStyle>
            <a:lvl1pPr marL="0" indent="0" algn="l">
              <a:buNone/>
              <a:defRPr sz="1823">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3013" y="914589"/>
            <a:ext cx="617379" cy="607788"/>
          </a:xfrm>
          <a:prstGeom prst="rect">
            <a:avLst/>
          </a:prstGeom>
        </p:spPr>
        <p:txBody>
          <a:bodyPr vert="horz" lIns="92607" tIns="46303" rIns="92607" bIns="46303" rtlCol="0" anchor="ctr">
            <a:noAutofit/>
          </a:bodyPr>
          <a:lstStyle/>
          <a:p>
            <a:pPr lvl="0"/>
            <a:r>
              <a:rPr lang="en-US" sz="8102" dirty="0">
                <a:solidFill>
                  <a:schemeClr val="tx1"/>
                </a:solidFill>
                <a:effectLst/>
              </a:rPr>
              <a:t>“</a:t>
            </a:r>
          </a:p>
        </p:txBody>
      </p:sp>
      <p:sp>
        <p:nvSpPr>
          <p:cNvPr id="13" name="TextBox 12"/>
          <p:cNvSpPr txBox="1"/>
          <p:nvPr/>
        </p:nvSpPr>
        <p:spPr>
          <a:xfrm>
            <a:off x="10735531" y="2701547"/>
            <a:ext cx="617379" cy="607788"/>
          </a:xfrm>
          <a:prstGeom prst="rect">
            <a:avLst/>
          </a:prstGeom>
        </p:spPr>
        <p:txBody>
          <a:bodyPr vert="horz" lIns="92607" tIns="46303" rIns="92607" bIns="46303" rtlCol="0" anchor="ctr">
            <a:noAutofit/>
          </a:bodyPr>
          <a:lstStyle/>
          <a:p>
            <a:pPr lvl="0" algn="r"/>
            <a:r>
              <a:rPr lang="en-US" sz="8102" dirty="0">
                <a:solidFill>
                  <a:schemeClr val="tx1"/>
                </a:solidFill>
                <a:effectLst/>
              </a:rPr>
              <a:t>”</a:t>
            </a:r>
          </a:p>
        </p:txBody>
      </p:sp>
      <p:cxnSp>
        <p:nvCxnSpPr>
          <p:cNvPr id="26" name="Straight Connector 25"/>
          <p:cNvCxnSpPr/>
          <p:nvPr/>
        </p:nvCxnSpPr>
        <p:spPr>
          <a:xfrm>
            <a:off x="1413985" y="3563938"/>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2744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311931" y="1020781"/>
            <a:ext cx="9732289" cy="233196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311931" y="3773022"/>
            <a:ext cx="9732291" cy="874353"/>
          </a:xfrm>
        </p:spPr>
        <p:txBody>
          <a:bodyPr anchor="b">
            <a:normAutofit/>
          </a:bodyPr>
          <a:lstStyle>
            <a:lvl1pPr marL="0" indent="0" algn="l">
              <a:spcBef>
                <a:spcPts val="0"/>
              </a:spcBef>
              <a:buNone/>
              <a:defRPr sz="2836">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311930" y="4646318"/>
            <a:ext cx="9732293" cy="1460775"/>
          </a:xfrm>
        </p:spPr>
        <p:txBody>
          <a:bodyPr anchor="t">
            <a:normAutofit/>
          </a:bodyPr>
          <a:lstStyle>
            <a:lvl1pPr marL="0" indent="0" algn="l">
              <a:buNone/>
              <a:defRPr sz="1823">
                <a:solidFill>
                  <a:schemeClr val="tx1"/>
                </a:solidFill>
              </a:defRPr>
            </a:lvl1pPr>
            <a:lvl2pPr marL="463052" indent="0">
              <a:buNone/>
              <a:defRPr sz="1823">
                <a:solidFill>
                  <a:schemeClr val="tx1">
                    <a:tint val="75000"/>
                  </a:schemeClr>
                </a:solidFill>
              </a:defRPr>
            </a:lvl2pPr>
            <a:lvl3pPr marL="926104" indent="0">
              <a:buNone/>
              <a:defRPr sz="1620">
                <a:solidFill>
                  <a:schemeClr val="tx1">
                    <a:tint val="75000"/>
                  </a:schemeClr>
                </a:solidFill>
              </a:defRPr>
            </a:lvl3pPr>
            <a:lvl4pPr marL="1389156" indent="0">
              <a:buNone/>
              <a:defRPr sz="1418">
                <a:solidFill>
                  <a:schemeClr val="tx1">
                    <a:tint val="75000"/>
                  </a:schemeClr>
                </a:solidFill>
              </a:defRPr>
            </a:lvl4pPr>
            <a:lvl5pPr marL="1852209" indent="0">
              <a:buNone/>
              <a:defRPr sz="1418">
                <a:solidFill>
                  <a:schemeClr val="tx1">
                    <a:tint val="75000"/>
                  </a:schemeClr>
                </a:solidFill>
              </a:defRPr>
            </a:lvl5pPr>
            <a:lvl6pPr marL="2315261" indent="0">
              <a:buNone/>
              <a:defRPr sz="1418">
                <a:solidFill>
                  <a:schemeClr val="tx1">
                    <a:tint val="75000"/>
                  </a:schemeClr>
                </a:solidFill>
              </a:defRPr>
            </a:lvl6pPr>
            <a:lvl7pPr marL="2778313" indent="0">
              <a:buNone/>
              <a:defRPr sz="1418">
                <a:solidFill>
                  <a:schemeClr val="tx1">
                    <a:tint val="75000"/>
                  </a:schemeClr>
                </a:solidFill>
              </a:defRPr>
            </a:lvl7pPr>
            <a:lvl8pPr marL="3241365" indent="0">
              <a:buNone/>
              <a:defRPr sz="1418">
                <a:solidFill>
                  <a:schemeClr val="tx1">
                    <a:tint val="75000"/>
                  </a:schemeClr>
                </a:solidFill>
              </a:defRPr>
            </a:lvl8pPr>
            <a:lvl9pPr marL="3704417" indent="0">
              <a:buNone/>
              <a:defRPr sz="141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13985" y="3563938"/>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6087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413985" y="2516755"/>
            <a:ext cx="952733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9626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4192" y="1020780"/>
            <a:ext cx="1915024" cy="508631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11929" y="1020781"/>
            <a:ext cx="7527873" cy="508631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8976997" y="1029582"/>
            <a:ext cx="0" cy="5068711"/>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792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937" y="0"/>
            <a:ext cx="12386021" cy="7126019"/>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311932" y="1020781"/>
            <a:ext cx="9723711" cy="135517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11931" y="2657552"/>
            <a:ext cx="9723711" cy="3449542"/>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88230" y="6203891"/>
            <a:ext cx="1620619" cy="290395"/>
          </a:xfrm>
          <a:prstGeom prst="rect">
            <a:avLst/>
          </a:prstGeom>
        </p:spPr>
        <p:txBody>
          <a:bodyPr vert="horz" lIns="91440" tIns="45720" rIns="91440" bIns="45720" rtlCol="0" anchor="ctr"/>
          <a:lstStyle>
            <a:lvl1pPr algn="r">
              <a:defRPr sz="1013" b="0" i="0">
                <a:solidFill>
                  <a:schemeClr val="tx1"/>
                </a:solidFill>
                <a:effectLst/>
                <a:latin typeface="+mn-lt"/>
              </a:defRPr>
            </a:lvl1pPr>
          </a:lstStyle>
          <a:p>
            <a:fld id="{5BCAD085-E8A6-8845-BD4E-CB4CCA059FC4}" type="datetimeFigureOut">
              <a:rPr lang="en-US" smtClean="0"/>
              <a:t>3/8/2026</a:t>
            </a:fld>
            <a:endParaRPr lang="en-US"/>
          </a:p>
        </p:txBody>
      </p:sp>
      <p:sp>
        <p:nvSpPr>
          <p:cNvPr id="5" name="Footer Placeholder 4"/>
          <p:cNvSpPr>
            <a:spLocks noGrp="1"/>
          </p:cNvSpPr>
          <p:nvPr>
            <p:ph type="ftr" sz="quarter" idx="3"/>
          </p:nvPr>
        </p:nvSpPr>
        <p:spPr>
          <a:xfrm>
            <a:off x="1311931" y="6203891"/>
            <a:ext cx="7399126" cy="290395"/>
          </a:xfrm>
          <a:prstGeom prst="rect">
            <a:avLst/>
          </a:prstGeom>
        </p:spPr>
        <p:txBody>
          <a:bodyPr vert="horz" lIns="91440" tIns="45720" rIns="91440" bIns="45720" rtlCol="0" anchor="ctr"/>
          <a:lstStyle>
            <a:lvl1pPr algn="l">
              <a:defRPr sz="1013"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486022" y="6203891"/>
            <a:ext cx="549622" cy="290395"/>
          </a:xfrm>
          <a:prstGeom prst="rect">
            <a:avLst/>
          </a:prstGeom>
        </p:spPr>
        <p:txBody>
          <a:bodyPr vert="horz" lIns="91440" tIns="45720" rIns="91440" bIns="45720" rtlCol="0" anchor="ctr"/>
          <a:lstStyle>
            <a:lvl1pPr algn="r">
              <a:defRPr sz="1013"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33950752"/>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ctr" defTabSz="463052" rtl="0" eaLnBrk="1" latinLnBrk="0" hangingPunct="1">
        <a:spcBef>
          <a:spcPct val="0"/>
        </a:spcBef>
        <a:buNone/>
        <a:defRPr sz="4456"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9408" indent="-289408" algn="l" defTabSz="463052" rtl="0" eaLnBrk="1" latinLnBrk="0" hangingPunct="1">
        <a:spcBef>
          <a:spcPct val="20000"/>
        </a:spcBef>
        <a:spcAft>
          <a:spcPts val="608"/>
        </a:spcAft>
        <a:buClr>
          <a:schemeClr val="accent1"/>
        </a:buClr>
        <a:buSzPct val="115000"/>
        <a:buFont typeface="Arial"/>
        <a:buChar char="•"/>
        <a:defRPr sz="2431" kern="1200" cap="none">
          <a:solidFill>
            <a:schemeClr val="tx1">
              <a:lumMod val="85000"/>
              <a:lumOff val="15000"/>
            </a:schemeClr>
          </a:solidFill>
          <a:effectLst/>
          <a:latin typeface="+mn-lt"/>
          <a:ea typeface="+mn-ea"/>
          <a:cs typeface="+mn-cs"/>
        </a:defRPr>
      </a:lvl1pPr>
      <a:lvl2pPr marL="752460" indent="-289408" algn="l" defTabSz="463052" rtl="0" eaLnBrk="1" latinLnBrk="0" hangingPunct="1">
        <a:spcBef>
          <a:spcPct val="20000"/>
        </a:spcBef>
        <a:spcAft>
          <a:spcPts val="608"/>
        </a:spcAft>
        <a:buClr>
          <a:schemeClr val="accent1"/>
        </a:buClr>
        <a:buSzPct val="115000"/>
        <a:buFont typeface="Arial"/>
        <a:buChar char="•"/>
        <a:defRPr sz="2026" kern="1200" cap="none">
          <a:solidFill>
            <a:schemeClr val="tx1">
              <a:lumMod val="85000"/>
              <a:lumOff val="15000"/>
            </a:schemeClr>
          </a:solidFill>
          <a:effectLst/>
          <a:latin typeface="+mn-lt"/>
          <a:ea typeface="+mn-ea"/>
          <a:cs typeface="+mn-cs"/>
        </a:defRPr>
      </a:lvl2pPr>
      <a:lvl3pPr marL="1215512" indent="-289408" algn="l" defTabSz="463052" rtl="0" eaLnBrk="1" latinLnBrk="0" hangingPunct="1">
        <a:spcBef>
          <a:spcPct val="20000"/>
        </a:spcBef>
        <a:spcAft>
          <a:spcPts val="608"/>
        </a:spcAft>
        <a:buClr>
          <a:schemeClr val="accent1"/>
        </a:buClr>
        <a:buSzPct val="115000"/>
        <a:buFont typeface="Arial"/>
        <a:buChar char="•"/>
        <a:defRPr sz="1823" kern="1200" cap="none">
          <a:solidFill>
            <a:schemeClr val="tx1">
              <a:lumMod val="85000"/>
              <a:lumOff val="15000"/>
            </a:schemeClr>
          </a:solidFill>
          <a:effectLst/>
          <a:latin typeface="+mn-lt"/>
          <a:ea typeface="+mn-ea"/>
          <a:cs typeface="+mn-cs"/>
        </a:defRPr>
      </a:lvl3pPr>
      <a:lvl4pPr marL="1562801" indent="-173645" algn="l" defTabSz="463052" rtl="0" eaLnBrk="1" latinLnBrk="0" hangingPunct="1">
        <a:spcBef>
          <a:spcPct val="20000"/>
        </a:spcBef>
        <a:spcAft>
          <a:spcPts val="608"/>
        </a:spcAft>
        <a:buClr>
          <a:schemeClr val="accent1"/>
        </a:buClr>
        <a:buSzPct val="115000"/>
        <a:buFont typeface="Arial"/>
        <a:buChar char="•"/>
        <a:defRPr sz="1620" kern="1200" cap="none">
          <a:solidFill>
            <a:schemeClr val="tx1">
              <a:lumMod val="85000"/>
              <a:lumOff val="15000"/>
            </a:schemeClr>
          </a:solidFill>
          <a:effectLst/>
          <a:latin typeface="+mn-lt"/>
          <a:ea typeface="+mn-ea"/>
          <a:cs typeface="+mn-cs"/>
        </a:defRPr>
      </a:lvl4pPr>
      <a:lvl5pPr marL="2025853" indent="-173645" algn="l" defTabSz="463052" rtl="0" eaLnBrk="1" latinLnBrk="0" hangingPunct="1">
        <a:spcBef>
          <a:spcPct val="20000"/>
        </a:spcBef>
        <a:spcAft>
          <a:spcPts val="608"/>
        </a:spcAft>
        <a:buClr>
          <a:schemeClr val="accent1"/>
        </a:buClr>
        <a:buSzPct val="115000"/>
        <a:buFont typeface="Arial"/>
        <a:buChar char="•"/>
        <a:defRPr sz="1418" kern="1200" cap="none">
          <a:solidFill>
            <a:schemeClr val="tx1">
              <a:lumMod val="85000"/>
              <a:lumOff val="15000"/>
            </a:schemeClr>
          </a:solidFill>
          <a:effectLst/>
          <a:latin typeface="+mn-lt"/>
          <a:ea typeface="+mn-ea"/>
          <a:cs typeface="+mn-cs"/>
        </a:defRPr>
      </a:lvl5pPr>
      <a:lvl6pPr marL="2546787" indent="-231526" algn="l" defTabSz="463052" rtl="0" eaLnBrk="1" latinLnBrk="0" hangingPunct="1">
        <a:spcBef>
          <a:spcPct val="20000"/>
        </a:spcBef>
        <a:spcAft>
          <a:spcPts val="608"/>
        </a:spcAft>
        <a:buClr>
          <a:schemeClr val="accent1"/>
        </a:buClr>
        <a:buSzPct val="115000"/>
        <a:buFont typeface="Arial"/>
        <a:buChar char="•"/>
        <a:defRPr sz="1418" kern="1200" cap="none">
          <a:solidFill>
            <a:schemeClr val="tx1">
              <a:lumMod val="85000"/>
              <a:lumOff val="15000"/>
            </a:schemeClr>
          </a:solidFill>
          <a:effectLst/>
          <a:latin typeface="+mn-lt"/>
          <a:ea typeface="+mn-ea"/>
          <a:cs typeface="+mn-cs"/>
        </a:defRPr>
      </a:lvl6pPr>
      <a:lvl7pPr marL="3009839" indent="-231526" algn="l" defTabSz="463052" rtl="0" eaLnBrk="1" latinLnBrk="0" hangingPunct="1">
        <a:spcBef>
          <a:spcPct val="20000"/>
        </a:spcBef>
        <a:spcAft>
          <a:spcPts val="608"/>
        </a:spcAft>
        <a:buClr>
          <a:schemeClr val="accent1"/>
        </a:buClr>
        <a:buSzPct val="115000"/>
        <a:buFont typeface="Arial"/>
        <a:buChar char="•"/>
        <a:defRPr sz="1418" kern="1200" cap="none">
          <a:solidFill>
            <a:schemeClr val="tx1">
              <a:lumMod val="85000"/>
              <a:lumOff val="15000"/>
            </a:schemeClr>
          </a:solidFill>
          <a:effectLst/>
          <a:latin typeface="+mn-lt"/>
          <a:ea typeface="+mn-ea"/>
          <a:cs typeface="+mn-cs"/>
        </a:defRPr>
      </a:lvl7pPr>
      <a:lvl8pPr marL="3472891" indent="-231526" algn="l" defTabSz="463052" rtl="0" eaLnBrk="1" latinLnBrk="0" hangingPunct="1">
        <a:spcBef>
          <a:spcPct val="20000"/>
        </a:spcBef>
        <a:spcAft>
          <a:spcPts val="608"/>
        </a:spcAft>
        <a:buClr>
          <a:schemeClr val="accent1"/>
        </a:buClr>
        <a:buSzPct val="115000"/>
        <a:buFont typeface="Arial"/>
        <a:buChar char="•"/>
        <a:defRPr sz="1418" kern="1200" cap="none">
          <a:solidFill>
            <a:schemeClr val="tx1">
              <a:lumMod val="85000"/>
              <a:lumOff val="15000"/>
            </a:schemeClr>
          </a:solidFill>
          <a:effectLst/>
          <a:latin typeface="+mn-lt"/>
          <a:ea typeface="+mn-ea"/>
          <a:cs typeface="+mn-cs"/>
        </a:defRPr>
      </a:lvl8pPr>
      <a:lvl9pPr marL="3935943" indent="-231526" algn="l" defTabSz="463052" rtl="0" eaLnBrk="1" latinLnBrk="0" hangingPunct="1">
        <a:spcBef>
          <a:spcPct val="20000"/>
        </a:spcBef>
        <a:spcAft>
          <a:spcPts val="608"/>
        </a:spcAft>
        <a:buClr>
          <a:schemeClr val="accent1"/>
        </a:buClr>
        <a:buSzPct val="115000"/>
        <a:buFont typeface="Arial"/>
        <a:buChar char="•"/>
        <a:defRPr sz="1418" kern="1200" cap="none">
          <a:solidFill>
            <a:schemeClr val="tx1">
              <a:lumMod val="85000"/>
              <a:lumOff val="15000"/>
            </a:schemeClr>
          </a:solidFill>
          <a:effectLst/>
          <a:latin typeface="+mn-lt"/>
          <a:ea typeface="+mn-ea"/>
          <a:cs typeface="+mn-cs"/>
        </a:defRPr>
      </a:lvl9pPr>
    </p:bodyStyle>
    <p:otherStyle>
      <a:defPPr>
        <a:defRPr lang="en-US"/>
      </a:defPPr>
      <a:lvl1pPr marL="0" algn="l" defTabSz="463052" rtl="0" eaLnBrk="1" latinLnBrk="0" hangingPunct="1">
        <a:defRPr sz="1823" kern="1200">
          <a:solidFill>
            <a:schemeClr val="tx1"/>
          </a:solidFill>
          <a:latin typeface="+mn-lt"/>
          <a:ea typeface="+mn-ea"/>
          <a:cs typeface="+mn-cs"/>
        </a:defRPr>
      </a:lvl1pPr>
      <a:lvl2pPr marL="463052" algn="l" defTabSz="463052" rtl="0" eaLnBrk="1" latinLnBrk="0" hangingPunct="1">
        <a:defRPr sz="1823" kern="1200">
          <a:solidFill>
            <a:schemeClr val="tx1"/>
          </a:solidFill>
          <a:latin typeface="+mn-lt"/>
          <a:ea typeface="+mn-ea"/>
          <a:cs typeface="+mn-cs"/>
        </a:defRPr>
      </a:lvl2pPr>
      <a:lvl3pPr marL="926104" algn="l" defTabSz="463052" rtl="0" eaLnBrk="1" latinLnBrk="0" hangingPunct="1">
        <a:defRPr sz="1823" kern="1200">
          <a:solidFill>
            <a:schemeClr val="tx1"/>
          </a:solidFill>
          <a:latin typeface="+mn-lt"/>
          <a:ea typeface="+mn-ea"/>
          <a:cs typeface="+mn-cs"/>
        </a:defRPr>
      </a:lvl3pPr>
      <a:lvl4pPr marL="1389156" algn="l" defTabSz="463052" rtl="0" eaLnBrk="1" latinLnBrk="0" hangingPunct="1">
        <a:defRPr sz="1823" kern="1200">
          <a:solidFill>
            <a:schemeClr val="tx1"/>
          </a:solidFill>
          <a:latin typeface="+mn-lt"/>
          <a:ea typeface="+mn-ea"/>
          <a:cs typeface="+mn-cs"/>
        </a:defRPr>
      </a:lvl4pPr>
      <a:lvl5pPr marL="1852209" algn="l" defTabSz="463052" rtl="0" eaLnBrk="1" latinLnBrk="0" hangingPunct="1">
        <a:defRPr sz="1823" kern="1200">
          <a:solidFill>
            <a:schemeClr val="tx1"/>
          </a:solidFill>
          <a:latin typeface="+mn-lt"/>
          <a:ea typeface="+mn-ea"/>
          <a:cs typeface="+mn-cs"/>
        </a:defRPr>
      </a:lvl5pPr>
      <a:lvl6pPr marL="2315261" algn="l" defTabSz="463052" rtl="0" eaLnBrk="1" latinLnBrk="0" hangingPunct="1">
        <a:defRPr sz="1823" kern="1200">
          <a:solidFill>
            <a:schemeClr val="tx1"/>
          </a:solidFill>
          <a:latin typeface="+mn-lt"/>
          <a:ea typeface="+mn-ea"/>
          <a:cs typeface="+mn-cs"/>
        </a:defRPr>
      </a:lvl6pPr>
      <a:lvl7pPr marL="2778313" algn="l" defTabSz="463052" rtl="0" eaLnBrk="1" latinLnBrk="0" hangingPunct="1">
        <a:defRPr sz="1823" kern="1200">
          <a:solidFill>
            <a:schemeClr val="tx1"/>
          </a:solidFill>
          <a:latin typeface="+mn-lt"/>
          <a:ea typeface="+mn-ea"/>
          <a:cs typeface="+mn-cs"/>
        </a:defRPr>
      </a:lvl7pPr>
      <a:lvl8pPr marL="3241365" algn="l" defTabSz="463052" rtl="0" eaLnBrk="1" latinLnBrk="0" hangingPunct="1">
        <a:defRPr sz="1823" kern="1200">
          <a:solidFill>
            <a:schemeClr val="tx1"/>
          </a:solidFill>
          <a:latin typeface="+mn-lt"/>
          <a:ea typeface="+mn-ea"/>
          <a:cs typeface="+mn-cs"/>
        </a:defRPr>
      </a:lvl8pPr>
      <a:lvl9pPr marL="3704417" algn="l" defTabSz="463052" rtl="0" eaLnBrk="1" latinLnBrk="0" hangingPunct="1">
        <a:defRPr sz="182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5330" y="1422404"/>
            <a:ext cx="6885489" cy="916299"/>
          </a:xfrm>
        </p:spPr>
        <p:txBody>
          <a:bodyPr>
            <a:normAutofit fontScale="90000"/>
          </a:bodyPr>
          <a:lstStyle/>
          <a:p>
            <a:r>
              <a:rPr lang="en-IN" dirty="0">
                <a:ln w="0"/>
                <a:solidFill>
                  <a:schemeClr val="tx1"/>
                </a:solidFill>
                <a:effectLst>
                  <a:glow rad="228600">
                    <a:schemeClr val="accent3">
                      <a:satMod val="175000"/>
                      <a:alpha val="40000"/>
                    </a:schemeClr>
                  </a:glow>
                  <a:outerShdw blurRad="38100" dist="19050" dir="2700000" algn="tl" rotWithShape="0">
                    <a:schemeClr val="dk1">
                      <a:alpha val="40000"/>
                    </a:schemeClr>
                  </a:outerShdw>
                </a:effectLst>
              </a:rPr>
              <a:t>Instamart Sales &amp; Operations Analysis</a:t>
            </a:r>
            <a:br>
              <a:rPr lang="en-IN" dirty="0">
                <a:ln w="0"/>
                <a:solidFill>
                  <a:schemeClr val="tx1"/>
                </a:solidFill>
                <a:effectLst>
                  <a:outerShdw blurRad="38100" dist="19050" dir="2700000" algn="tl" rotWithShape="0">
                    <a:schemeClr val="dk1">
                      <a:alpha val="40000"/>
                    </a:schemeClr>
                  </a:outerShdw>
                </a:effectLst>
              </a:rPr>
            </a:br>
            <a:endParaRPr dirty="0"/>
          </a:p>
        </p:txBody>
      </p:sp>
      <p:sp>
        <p:nvSpPr>
          <p:cNvPr id="3" name="Content Placeholder 2"/>
          <p:cNvSpPr>
            <a:spLocks noGrp="1"/>
          </p:cNvSpPr>
          <p:nvPr>
            <p:ph idx="1"/>
          </p:nvPr>
        </p:nvSpPr>
        <p:spPr/>
        <p:txBody>
          <a:bodyPr>
            <a:normAutofit lnSpcReduction="10000"/>
          </a:bodyPr>
          <a:lstStyle/>
          <a:p>
            <a:r>
              <a:rPr lang="en-IN" dirty="0">
                <a:solidFill>
                  <a:schemeClr val="tx1"/>
                </a:solidFill>
              </a:rPr>
              <a:t>DATA ANALYSIS AND VISUALIZATION REPORT </a:t>
            </a:r>
          </a:p>
          <a:p>
            <a:r>
              <a:rPr dirty="0"/>
              <a:t>Tools: SQL, Excel, Power BI</a:t>
            </a:r>
          </a:p>
          <a:p>
            <a:pPr marL="0" indent="0">
              <a:buNone/>
            </a:pPr>
            <a:endParaRPr lang="en-US" dirty="0"/>
          </a:p>
          <a:p>
            <a:pPr marL="0" indent="0">
              <a:buNone/>
            </a:pPr>
            <a:endParaRPr lang="en-IN" dirty="0"/>
          </a:p>
          <a:p>
            <a:pPr marL="0" indent="0">
              <a:buNone/>
            </a:pPr>
            <a:endParaRPr lang="en-IN" dirty="0"/>
          </a:p>
          <a:p>
            <a:pPr marL="0" indent="0">
              <a:buNone/>
            </a:pPr>
            <a:r>
              <a:rPr lang="en-IN" dirty="0"/>
              <a:t>								</a:t>
            </a:r>
            <a:r>
              <a:rPr dirty="0"/>
              <a:t>Prepared by: Suraj Sahu</a:t>
            </a:r>
            <a:br>
              <a:rPr lang="en-US" dirty="0"/>
            </a:br>
            <a:r>
              <a:rPr lang="en-US" dirty="0"/>
              <a:t>					(</a:t>
            </a:r>
            <a:r>
              <a:rPr lang="en-IN" sz="1924" dirty="0"/>
              <a:t>Advanced Certification in Data </a:t>
            </a:r>
            <a:r>
              <a:rPr lang="en-IN" sz="1924" dirty="0" err="1"/>
              <a:t>ScienceAI</a:t>
            </a:r>
            <a:r>
              <a:rPr lang="en-IN" sz="1924" dirty="0"/>
              <a:t> , </a:t>
            </a:r>
            <a:r>
              <a:rPr lang="en-IN" sz="1924" dirty="0" err="1"/>
              <a:t>Analytixlabs</a:t>
            </a:r>
            <a:r>
              <a:rPr lang="en-IN" sz="1924" dirty="0"/>
              <a:t>) </a:t>
            </a:r>
          </a:p>
          <a:p>
            <a:pPr marL="0" indent="0">
              <a:buNone/>
            </a:pPr>
            <a:endParaRPr lang="en-US" dirty="0"/>
          </a:p>
          <a:p>
            <a:pPr marL="0" indent="0">
              <a:buNone/>
            </a:pPr>
            <a:endParaRPr dirty="0"/>
          </a:p>
        </p:txBody>
      </p:sp>
      <p:sp>
        <p:nvSpPr>
          <p:cNvPr id="4" name="Rectangle 3">
            <a:extLst>
              <a:ext uri="{FF2B5EF4-FFF2-40B4-BE49-F238E27FC236}">
                <a16:creationId xmlns:a16="http://schemas.microsoft.com/office/drawing/2014/main" id="{6A86789B-EE20-28A0-63FF-196BDD1E96E9}"/>
              </a:ext>
            </a:extLst>
          </p:cNvPr>
          <p:cNvSpPr/>
          <p:nvPr/>
        </p:nvSpPr>
        <p:spPr>
          <a:xfrm>
            <a:off x="6080244" y="3096381"/>
            <a:ext cx="187088" cy="945892"/>
          </a:xfrm>
          <a:prstGeom prst="rect">
            <a:avLst/>
          </a:prstGeom>
          <a:noFill/>
        </p:spPr>
        <p:txBody>
          <a:bodyPr wrap="none" lIns="92607" tIns="46303" rIns="92607" bIns="46303">
            <a:spAutoFit/>
          </a:bodyPr>
          <a:lstStyle/>
          <a:p>
            <a:pPr algn="ctr"/>
            <a:endParaRPr lang="en-IN" sz="5469" dirty="0">
              <a:ln w="0"/>
              <a:effectLst>
                <a:outerShdw blurRad="38100" dist="19050" dir="2700000" algn="tl" rotWithShape="0">
                  <a:schemeClr val="dk1">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a:r>
              <a:rPr dirty="0"/>
              <a:t>Objective: Analyze Instamart order data to understand sales performance, customer trends, and operational efficiency.</a:t>
            </a:r>
          </a:p>
          <a:p>
            <a:r>
              <a:rPr dirty="0"/>
              <a:t>Dataset includes order transactions, product categories, delivery details, and locations.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5330" y="1454560"/>
            <a:ext cx="6885489" cy="884144"/>
          </a:xfrm>
        </p:spPr>
        <p:txBody>
          <a:bodyPr/>
          <a:lstStyle/>
          <a:p>
            <a:r>
              <a:rPr dirty="0"/>
              <a:t>Business Objectives</a:t>
            </a:r>
          </a:p>
        </p:txBody>
      </p:sp>
      <p:sp>
        <p:nvSpPr>
          <p:cNvPr id="3" name="Content Placeholder 2"/>
          <p:cNvSpPr>
            <a:spLocks noGrp="1"/>
          </p:cNvSpPr>
          <p:nvPr>
            <p:ph idx="1"/>
          </p:nvPr>
        </p:nvSpPr>
        <p:spPr/>
        <p:txBody>
          <a:bodyPr>
            <a:normAutofit fontScale="77500" lnSpcReduction="20000"/>
          </a:bodyPr>
          <a:lstStyle/>
          <a:p>
            <a:r>
              <a:rPr lang="en-US" dirty="0"/>
              <a:t>This project analyzes </a:t>
            </a:r>
            <a:r>
              <a:rPr lang="en-US" b="1" dirty="0"/>
              <a:t>Instamart grocery delivery data</a:t>
            </a:r>
            <a:r>
              <a:rPr lang="en-US" dirty="0"/>
              <a:t> to understand sales trends, customer ordering patterns, and product performance.</a:t>
            </a:r>
          </a:p>
          <a:p>
            <a:r>
              <a:rPr lang="en-US" dirty="0"/>
              <a:t>The goal is to help the business:</a:t>
            </a:r>
          </a:p>
          <a:p>
            <a:r>
              <a:rPr lang="en-US" dirty="0"/>
              <a:t>1.Identify total revenue and order trends</a:t>
            </a:r>
          </a:p>
          <a:p>
            <a:r>
              <a:rPr lang="en-US" dirty="0"/>
              <a:t>2. Analyze product category performance</a:t>
            </a:r>
          </a:p>
          <a:p>
            <a:r>
              <a:rPr lang="en-US" dirty="0"/>
              <a:t>3. Evaluate city/state level sales performance</a:t>
            </a:r>
          </a:p>
          <a:p>
            <a:r>
              <a:rPr lang="en-US" dirty="0"/>
              <a:t>4. Track delivery partner activity</a:t>
            </a:r>
          </a:p>
          <a:p>
            <a:r>
              <a:rPr lang="en-US" dirty="0"/>
              <a:t>5. Support data‑driven decision making</a:t>
            </a:r>
          </a:p>
          <a:p>
            <a:r>
              <a:rPr lang="en-US" dirty="0"/>
              <a:t>These insights support </a:t>
            </a:r>
            <a:r>
              <a:rPr lang="en-US" b="1" dirty="0"/>
              <a:t>data-driven decision-making to improve customer experience and increase business growth.</a:t>
            </a:r>
            <a:endParaRPr lang="en-US" dirty="0"/>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CCA95A-5ADC-E1AA-78DD-6F970C5B39F3}"/>
              </a:ext>
            </a:extLst>
          </p:cNvPr>
          <p:cNvSpPr txBox="1"/>
          <p:nvPr/>
        </p:nvSpPr>
        <p:spPr>
          <a:xfrm>
            <a:off x="4025824" y="1365208"/>
            <a:ext cx="4514582" cy="724842"/>
          </a:xfrm>
          <a:prstGeom prst="rect">
            <a:avLst/>
          </a:prstGeom>
          <a:noFill/>
        </p:spPr>
        <p:txBody>
          <a:bodyPr wrap="square">
            <a:spAutoFit/>
          </a:bodyPr>
          <a:lstStyle/>
          <a:p>
            <a:r>
              <a:rPr lang="en-IN" sz="4051" dirty="0"/>
              <a:t>Expected Outcome</a:t>
            </a:r>
            <a:endParaRPr lang="en-IN" sz="2836" dirty="0"/>
          </a:p>
        </p:txBody>
      </p:sp>
      <p:sp>
        <p:nvSpPr>
          <p:cNvPr id="5" name="TextBox 4">
            <a:extLst>
              <a:ext uri="{FF2B5EF4-FFF2-40B4-BE49-F238E27FC236}">
                <a16:creationId xmlns:a16="http://schemas.microsoft.com/office/drawing/2014/main" id="{37B5BC81-6592-ADFE-35B0-8207227BF315}"/>
              </a:ext>
            </a:extLst>
          </p:cNvPr>
          <p:cNvSpPr txBox="1"/>
          <p:nvPr/>
        </p:nvSpPr>
        <p:spPr>
          <a:xfrm>
            <a:off x="2971135" y="2304502"/>
            <a:ext cx="7957420" cy="4154984"/>
          </a:xfrm>
          <a:prstGeom prst="rect">
            <a:avLst/>
          </a:prstGeom>
          <a:noFill/>
        </p:spPr>
        <p:txBody>
          <a:bodyPr wrap="square" numCol="1">
            <a:spAutoFit/>
          </a:bodyPr>
          <a:lstStyle/>
          <a:p>
            <a:pPr marL="289408" indent="-289408">
              <a:buClr>
                <a:srgbClr val="92D050"/>
              </a:buClr>
              <a:buFont typeface="Arial" panose="020B0604020202020204" pitchFamily="34" charset="0"/>
              <a:buChar char="•"/>
            </a:pPr>
            <a:r>
              <a:rPr lang="en-US" sz="2000" b="1" dirty="0"/>
              <a:t>After the analysis, Instamart will be able to:</a:t>
            </a:r>
          </a:p>
          <a:p>
            <a:pPr marL="289408" indent="-289408">
              <a:buClr>
                <a:srgbClr val="92D050"/>
              </a:buClr>
              <a:buFont typeface="Arial" panose="020B0604020202020204" pitchFamily="34" charset="0"/>
              <a:buChar char="•"/>
            </a:pPr>
            <a:r>
              <a:rPr lang="en-US" sz="2000" b="1" dirty="0"/>
              <a:t>Actionable Insights</a:t>
            </a:r>
            <a:endParaRPr lang="en-US" sz="2000" dirty="0"/>
          </a:p>
          <a:p>
            <a:pPr marL="289408" indent="-289408">
              <a:buClr>
                <a:srgbClr val="92D050"/>
              </a:buClr>
              <a:buFont typeface="Arial" panose="020B0604020202020204" pitchFamily="34" charset="0"/>
              <a:buChar char="•"/>
            </a:pPr>
            <a:r>
              <a:rPr lang="en-US" sz="2000" dirty="0"/>
              <a:t>Identify top products and categories</a:t>
            </a:r>
          </a:p>
          <a:p>
            <a:pPr marL="289408" indent="-289408">
              <a:buClr>
                <a:srgbClr val="92D050"/>
              </a:buClr>
              <a:buFont typeface="Arial" panose="020B0604020202020204" pitchFamily="34" charset="0"/>
              <a:buChar char="•"/>
            </a:pPr>
            <a:r>
              <a:rPr lang="en-US" sz="2000" dirty="0"/>
              <a:t>Understand regional sales trends</a:t>
            </a:r>
          </a:p>
          <a:p>
            <a:pPr marL="289408" indent="-289408">
              <a:buClr>
                <a:srgbClr val="92D050"/>
              </a:buClr>
              <a:buFont typeface="Arial" panose="020B0604020202020204" pitchFamily="34" charset="0"/>
              <a:buChar char="•"/>
            </a:pPr>
            <a:r>
              <a:rPr lang="en-US" sz="2000" dirty="0">
                <a:solidFill>
                  <a:schemeClr val="tx1">
                    <a:lumMod val="85000"/>
                    <a:lumOff val="15000"/>
                  </a:schemeClr>
                </a:solidFill>
              </a:rPr>
              <a:t>Analyze</a:t>
            </a:r>
            <a:r>
              <a:rPr lang="en-US" sz="2000" dirty="0"/>
              <a:t> customer ordering behavior</a:t>
            </a:r>
          </a:p>
          <a:p>
            <a:pPr marL="289408" indent="-289408">
              <a:buClr>
                <a:srgbClr val="92D050"/>
              </a:buClr>
              <a:buFont typeface="Arial" panose="020B0604020202020204" pitchFamily="34" charset="0"/>
              <a:buChar char="•"/>
            </a:pPr>
            <a:r>
              <a:rPr lang="en-US" sz="2000" b="1" dirty="0"/>
              <a:t>Business Recommendations</a:t>
            </a:r>
            <a:endParaRPr lang="en-US" sz="2000" dirty="0"/>
          </a:p>
          <a:p>
            <a:pPr marL="289408" indent="-289408">
              <a:buClr>
                <a:srgbClr val="92D050"/>
              </a:buClr>
              <a:buFont typeface="Arial" panose="020B0604020202020204" pitchFamily="34" charset="0"/>
              <a:buChar char="•"/>
            </a:pPr>
            <a:r>
              <a:rPr lang="en-US" sz="2000" dirty="0"/>
              <a:t>Optimize inventory for high-demand products</a:t>
            </a:r>
          </a:p>
          <a:p>
            <a:pPr marL="289408" indent="-289408">
              <a:buClr>
                <a:srgbClr val="92D050"/>
              </a:buClr>
              <a:buFont typeface="Arial" panose="020B0604020202020204" pitchFamily="34" charset="0"/>
              <a:buChar char="•"/>
            </a:pPr>
            <a:r>
              <a:rPr lang="en-US" sz="2000" dirty="0"/>
              <a:t>Improve delivery efficiency during peak hours</a:t>
            </a:r>
          </a:p>
          <a:p>
            <a:pPr marL="289408" indent="-289408">
              <a:buClr>
                <a:srgbClr val="92D050"/>
              </a:buClr>
              <a:buFont typeface="Arial" panose="020B0604020202020204" pitchFamily="34" charset="0"/>
              <a:buChar char="•"/>
            </a:pPr>
            <a:r>
              <a:rPr lang="en-US" sz="2000" dirty="0"/>
              <a:t>Promote low-performing items</a:t>
            </a:r>
          </a:p>
          <a:p>
            <a:pPr marL="289408" indent="-289408">
              <a:buClr>
                <a:srgbClr val="92D050"/>
              </a:buClr>
              <a:buFont typeface="Arial" panose="020B0604020202020204" pitchFamily="34" charset="0"/>
              <a:buChar char="•"/>
            </a:pPr>
            <a:r>
              <a:rPr lang="en-US" sz="2000" b="1" dirty="0"/>
              <a:t>Data-Driven Decisions</a:t>
            </a:r>
            <a:endParaRPr lang="en-US" sz="2000" dirty="0"/>
          </a:p>
          <a:p>
            <a:pPr marL="289408" indent="-289408">
              <a:buClr>
                <a:srgbClr val="92D050"/>
              </a:buClr>
              <a:buFont typeface="Arial" panose="020B0604020202020204" pitchFamily="34" charset="0"/>
              <a:buChar char="•"/>
            </a:pPr>
            <a:r>
              <a:rPr lang="en-US" sz="2000" dirty="0"/>
              <a:t>Operations → Faster order fulfillment</a:t>
            </a:r>
          </a:p>
          <a:p>
            <a:pPr marL="289408" indent="-289408">
              <a:buClr>
                <a:srgbClr val="92D050"/>
              </a:buClr>
              <a:buFont typeface="Arial" panose="020B0604020202020204" pitchFamily="34" charset="0"/>
              <a:buChar char="•"/>
            </a:pPr>
            <a:r>
              <a:rPr lang="en-US" sz="2000" dirty="0"/>
              <a:t>Marketing → Targeted promotions</a:t>
            </a:r>
          </a:p>
          <a:p>
            <a:pPr marL="289408" indent="-289408">
              <a:buClr>
                <a:srgbClr val="92D050"/>
              </a:buClr>
              <a:buFont typeface="Arial" panose="020B0604020202020204" pitchFamily="34" charset="0"/>
              <a:buChar char="•"/>
            </a:pPr>
            <a:r>
              <a:rPr lang="en-US" sz="2000" dirty="0"/>
              <a:t>Management → Track revenue and order KPI</a:t>
            </a:r>
            <a:r>
              <a:rPr lang="en-US" sz="2400" dirty="0"/>
              <a:t>s</a:t>
            </a:r>
          </a:p>
        </p:txBody>
      </p:sp>
      <p:cxnSp>
        <p:nvCxnSpPr>
          <p:cNvPr id="9" name="Straight Connector 8">
            <a:extLst>
              <a:ext uri="{FF2B5EF4-FFF2-40B4-BE49-F238E27FC236}">
                <a16:creationId xmlns:a16="http://schemas.microsoft.com/office/drawing/2014/main" id="{CCF3AA4A-A4F0-90BB-DE82-B86305B095E5}"/>
              </a:ext>
            </a:extLst>
          </p:cNvPr>
          <p:cNvCxnSpPr>
            <a:cxnSpLocks/>
          </p:cNvCxnSpPr>
          <p:nvPr/>
        </p:nvCxnSpPr>
        <p:spPr>
          <a:xfrm>
            <a:off x="2971135" y="2097662"/>
            <a:ext cx="690692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24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0178A0-9526-141F-696D-67C19BA09A10}"/>
              </a:ext>
            </a:extLst>
          </p:cNvPr>
          <p:cNvSpPr/>
          <p:nvPr/>
        </p:nvSpPr>
        <p:spPr>
          <a:xfrm>
            <a:off x="1247619" y="3936539"/>
            <a:ext cx="10032405" cy="1099705"/>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64"/>
          </a:p>
        </p:txBody>
      </p:sp>
      <p:sp>
        <p:nvSpPr>
          <p:cNvPr id="6" name="Rectangle 5">
            <a:extLst>
              <a:ext uri="{FF2B5EF4-FFF2-40B4-BE49-F238E27FC236}">
                <a16:creationId xmlns:a16="http://schemas.microsoft.com/office/drawing/2014/main" id="{4E190999-15BD-AB26-FD54-98C39DDF2135}"/>
              </a:ext>
            </a:extLst>
          </p:cNvPr>
          <p:cNvSpPr/>
          <p:nvPr/>
        </p:nvSpPr>
        <p:spPr>
          <a:xfrm>
            <a:off x="6521065" y="5264080"/>
            <a:ext cx="4694649" cy="107103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64"/>
          </a:p>
        </p:txBody>
      </p:sp>
      <p:sp>
        <p:nvSpPr>
          <p:cNvPr id="7" name="Rectangle 6">
            <a:extLst>
              <a:ext uri="{FF2B5EF4-FFF2-40B4-BE49-F238E27FC236}">
                <a16:creationId xmlns:a16="http://schemas.microsoft.com/office/drawing/2014/main" id="{A3472655-E48F-C7D6-382A-1F4C666E1104}"/>
              </a:ext>
            </a:extLst>
          </p:cNvPr>
          <p:cNvSpPr/>
          <p:nvPr/>
        </p:nvSpPr>
        <p:spPr>
          <a:xfrm>
            <a:off x="6263821" y="2550971"/>
            <a:ext cx="4951892" cy="1157731"/>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64" dirty="0"/>
          </a:p>
        </p:txBody>
      </p:sp>
      <p:sp>
        <p:nvSpPr>
          <p:cNvPr id="8" name="Rectangle 7">
            <a:extLst>
              <a:ext uri="{FF2B5EF4-FFF2-40B4-BE49-F238E27FC236}">
                <a16:creationId xmlns:a16="http://schemas.microsoft.com/office/drawing/2014/main" id="{463CF28E-A255-4F84-07A1-D8196D2C13C2}"/>
              </a:ext>
            </a:extLst>
          </p:cNvPr>
          <p:cNvSpPr/>
          <p:nvPr/>
        </p:nvSpPr>
        <p:spPr>
          <a:xfrm>
            <a:off x="1517722" y="2570683"/>
            <a:ext cx="4101386" cy="1099705"/>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64"/>
          </a:p>
        </p:txBody>
      </p:sp>
      <p:sp>
        <p:nvSpPr>
          <p:cNvPr id="9" name="Rectangle 8">
            <a:extLst>
              <a:ext uri="{FF2B5EF4-FFF2-40B4-BE49-F238E27FC236}">
                <a16:creationId xmlns:a16="http://schemas.microsoft.com/office/drawing/2014/main" id="{ABF5FDD2-4037-2582-D51C-D86543F6A0CF}"/>
              </a:ext>
            </a:extLst>
          </p:cNvPr>
          <p:cNvSpPr/>
          <p:nvPr/>
        </p:nvSpPr>
        <p:spPr>
          <a:xfrm>
            <a:off x="1183309" y="1302765"/>
            <a:ext cx="10032405" cy="976243"/>
          </a:xfrm>
          <a:prstGeom prst="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64"/>
          </a:p>
        </p:txBody>
      </p:sp>
      <p:sp>
        <p:nvSpPr>
          <p:cNvPr id="10" name="Rectangle 9">
            <a:extLst>
              <a:ext uri="{FF2B5EF4-FFF2-40B4-BE49-F238E27FC236}">
                <a16:creationId xmlns:a16="http://schemas.microsoft.com/office/drawing/2014/main" id="{BE107FB5-D994-D0AA-0725-5EDAF20873DF}"/>
              </a:ext>
            </a:extLst>
          </p:cNvPr>
          <p:cNvSpPr/>
          <p:nvPr/>
        </p:nvSpPr>
        <p:spPr>
          <a:xfrm>
            <a:off x="1324791" y="5264082"/>
            <a:ext cx="4783077" cy="1099705"/>
          </a:xfrm>
          <a:prstGeom prst="rect">
            <a:avLst/>
          </a:prstGeom>
          <a:blipFill dpi="0" rotWithShape="1">
            <a:blip r:embed="rId7">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4" dirty="0"/>
              <a:t>a</a:t>
            </a:r>
            <a:endParaRPr lang="en-IN" sz="1864" dirty="0"/>
          </a:p>
        </p:txBody>
      </p:sp>
      <p:sp>
        <p:nvSpPr>
          <p:cNvPr id="11" name="TextBox 10">
            <a:extLst>
              <a:ext uri="{FF2B5EF4-FFF2-40B4-BE49-F238E27FC236}">
                <a16:creationId xmlns:a16="http://schemas.microsoft.com/office/drawing/2014/main" id="{FCDB5405-7CAB-EC57-F26E-169062CC5D10}"/>
              </a:ext>
            </a:extLst>
          </p:cNvPr>
          <p:cNvSpPr txBox="1"/>
          <p:nvPr/>
        </p:nvSpPr>
        <p:spPr>
          <a:xfrm>
            <a:off x="1694828" y="535519"/>
            <a:ext cx="8298990" cy="535481"/>
          </a:xfrm>
          <a:prstGeom prst="rect">
            <a:avLst/>
          </a:prstGeom>
          <a:noFill/>
        </p:spPr>
        <p:txBody>
          <a:bodyPr wrap="square" rtlCol="0">
            <a:spAutoFit/>
          </a:bodyPr>
          <a:lstStyle/>
          <a:p>
            <a:pPr algn="ctr"/>
            <a:r>
              <a:rPr lang="en-IN" sz="2836" dirty="0"/>
              <a:t>Overview of Table</a:t>
            </a:r>
          </a:p>
        </p:txBody>
      </p:sp>
      <p:cxnSp>
        <p:nvCxnSpPr>
          <p:cNvPr id="13" name="Straight Connector 12">
            <a:extLst>
              <a:ext uri="{FF2B5EF4-FFF2-40B4-BE49-F238E27FC236}">
                <a16:creationId xmlns:a16="http://schemas.microsoft.com/office/drawing/2014/main" id="{4C1CA159-F994-285D-0598-12AFEB5155F2}"/>
              </a:ext>
            </a:extLst>
          </p:cNvPr>
          <p:cNvCxnSpPr/>
          <p:nvPr/>
        </p:nvCxnSpPr>
        <p:spPr>
          <a:xfrm>
            <a:off x="4003316" y="965801"/>
            <a:ext cx="3726781"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25F0AF3-80B5-4B97-08C5-8162C16446D6}"/>
              </a:ext>
            </a:extLst>
          </p:cNvPr>
          <p:cNvSpPr txBox="1"/>
          <p:nvPr/>
        </p:nvSpPr>
        <p:spPr>
          <a:xfrm>
            <a:off x="5174398" y="983754"/>
            <a:ext cx="1426435" cy="384045"/>
          </a:xfrm>
          <a:prstGeom prst="rect">
            <a:avLst/>
          </a:prstGeom>
          <a:noFill/>
        </p:spPr>
        <p:txBody>
          <a:bodyPr wrap="none" rtlCol="0">
            <a:spAutoFit/>
          </a:bodyPr>
          <a:lstStyle/>
          <a:p>
            <a:r>
              <a:rPr lang="en-US" sz="1864" dirty="0"/>
              <a:t>Orders Table</a:t>
            </a:r>
            <a:endParaRPr lang="en-IN" sz="1864" dirty="0"/>
          </a:p>
        </p:txBody>
      </p:sp>
      <p:sp>
        <p:nvSpPr>
          <p:cNvPr id="16" name="TextBox 15">
            <a:extLst>
              <a:ext uri="{FF2B5EF4-FFF2-40B4-BE49-F238E27FC236}">
                <a16:creationId xmlns:a16="http://schemas.microsoft.com/office/drawing/2014/main" id="{6540BBBB-2547-7B17-B681-1017A07D7506}"/>
              </a:ext>
            </a:extLst>
          </p:cNvPr>
          <p:cNvSpPr txBox="1"/>
          <p:nvPr/>
        </p:nvSpPr>
        <p:spPr>
          <a:xfrm>
            <a:off x="3186573" y="2237998"/>
            <a:ext cx="1649561" cy="384045"/>
          </a:xfrm>
          <a:prstGeom prst="rect">
            <a:avLst/>
          </a:prstGeom>
          <a:noFill/>
        </p:spPr>
        <p:txBody>
          <a:bodyPr wrap="square" rtlCol="0">
            <a:spAutoFit/>
          </a:bodyPr>
          <a:lstStyle/>
          <a:p>
            <a:r>
              <a:rPr lang="en-US" sz="1864" dirty="0"/>
              <a:t>Payment Table</a:t>
            </a:r>
            <a:endParaRPr lang="en-IN" sz="1864" dirty="0"/>
          </a:p>
        </p:txBody>
      </p:sp>
      <p:sp>
        <p:nvSpPr>
          <p:cNvPr id="17" name="TextBox 16">
            <a:extLst>
              <a:ext uri="{FF2B5EF4-FFF2-40B4-BE49-F238E27FC236}">
                <a16:creationId xmlns:a16="http://schemas.microsoft.com/office/drawing/2014/main" id="{688893ED-CEF0-9AD8-9CBF-CC882D992A1A}"/>
              </a:ext>
            </a:extLst>
          </p:cNvPr>
          <p:cNvSpPr txBox="1"/>
          <p:nvPr/>
        </p:nvSpPr>
        <p:spPr>
          <a:xfrm>
            <a:off x="8103095" y="2221355"/>
            <a:ext cx="1749240" cy="384045"/>
          </a:xfrm>
          <a:prstGeom prst="rect">
            <a:avLst/>
          </a:prstGeom>
          <a:noFill/>
        </p:spPr>
        <p:txBody>
          <a:bodyPr wrap="square" rtlCol="0">
            <a:spAutoFit/>
          </a:bodyPr>
          <a:lstStyle/>
          <a:p>
            <a:r>
              <a:rPr lang="en-US" sz="1864" dirty="0"/>
              <a:t>Store Table</a:t>
            </a:r>
            <a:endParaRPr lang="en-IN" sz="1864" dirty="0"/>
          </a:p>
        </p:txBody>
      </p:sp>
      <p:sp>
        <p:nvSpPr>
          <p:cNvPr id="18" name="TextBox 17">
            <a:extLst>
              <a:ext uri="{FF2B5EF4-FFF2-40B4-BE49-F238E27FC236}">
                <a16:creationId xmlns:a16="http://schemas.microsoft.com/office/drawing/2014/main" id="{4DF7D6C9-87B3-D6A1-99D5-C982C6CB39E3}"/>
              </a:ext>
            </a:extLst>
          </p:cNvPr>
          <p:cNvSpPr txBox="1"/>
          <p:nvPr/>
        </p:nvSpPr>
        <p:spPr>
          <a:xfrm>
            <a:off x="5218780" y="3618687"/>
            <a:ext cx="1729947" cy="384045"/>
          </a:xfrm>
          <a:prstGeom prst="rect">
            <a:avLst/>
          </a:prstGeom>
          <a:noFill/>
        </p:spPr>
        <p:txBody>
          <a:bodyPr wrap="square" rtlCol="0">
            <a:spAutoFit/>
          </a:bodyPr>
          <a:lstStyle/>
          <a:p>
            <a:r>
              <a:rPr lang="en-US" sz="1864" dirty="0"/>
              <a:t>Product Table</a:t>
            </a:r>
            <a:endParaRPr lang="en-IN" sz="1864" dirty="0"/>
          </a:p>
        </p:txBody>
      </p:sp>
      <p:sp>
        <p:nvSpPr>
          <p:cNvPr id="19" name="TextBox 18">
            <a:extLst>
              <a:ext uri="{FF2B5EF4-FFF2-40B4-BE49-F238E27FC236}">
                <a16:creationId xmlns:a16="http://schemas.microsoft.com/office/drawing/2014/main" id="{CD0F9E73-74A3-4F03-9459-E2E618D78D2E}"/>
              </a:ext>
            </a:extLst>
          </p:cNvPr>
          <p:cNvSpPr txBox="1"/>
          <p:nvPr/>
        </p:nvSpPr>
        <p:spPr>
          <a:xfrm>
            <a:off x="3434170" y="4987143"/>
            <a:ext cx="1485269" cy="311704"/>
          </a:xfrm>
          <a:prstGeom prst="rect">
            <a:avLst/>
          </a:prstGeom>
          <a:noFill/>
        </p:spPr>
        <p:txBody>
          <a:bodyPr wrap="square" rtlCol="0">
            <a:spAutoFit/>
          </a:bodyPr>
          <a:lstStyle/>
          <a:p>
            <a:r>
              <a:rPr lang="en-US" sz="1418" dirty="0"/>
              <a:t>Address Table</a:t>
            </a:r>
            <a:endParaRPr lang="en-IN" sz="1864" dirty="0"/>
          </a:p>
        </p:txBody>
      </p:sp>
      <p:sp>
        <p:nvSpPr>
          <p:cNvPr id="21" name="TextBox 20">
            <a:extLst>
              <a:ext uri="{FF2B5EF4-FFF2-40B4-BE49-F238E27FC236}">
                <a16:creationId xmlns:a16="http://schemas.microsoft.com/office/drawing/2014/main" id="{5F3A7DEA-60BD-324A-F86A-B7E90302563F}"/>
              </a:ext>
            </a:extLst>
          </p:cNvPr>
          <p:cNvSpPr txBox="1"/>
          <p:nvPr/>
        </p:nvSpPr>
        <p:spPr>
          <a:xfrm>
            <a:off x="7974475" y="4952378"/>
            <a:ext cx="1672067" cy="311704"/>
          </a:xfrm>
          <a:prstGeom prst="rect">
            <a:avLst/>
          </a:prstGeom>
          <a:noFill/>
        </p:spPr>
        <p:txBody>
          <a:bodyPr wrap="square" rtlCol="0">
            <a:spAutoFit/>
          </a:bodyPr>
          <a:lstStyle/>
          <a:p>
            <a:r>
              <a:rPr lang="en-US" sz="1418" dirty="0"/>
              <a:t>Category Table</a:t>
            </a:r>
            <a:endParaRPr lang="en-IN" sz="1864" dirty="0"/>
          </a:p>
        </p:txBody>
      </p:sp>
    </p:spTree>
    <p:extLst>
      <p:ext uri="{BB962C8B-B14F-4D97-AF65-F5344CB8AC3E}">
        <p14:creationId xmlns:p14="http://schemas.microsoft.com/office/powerpoint/2010/main" val="7476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2F7669-702D-A998-5DBC-520524D8A58B}"/>
              </a:ext>
            </a:extLst>
          </p:cNvPr>
          <p:cNvSpPr txBox="1"/>
          <p:nvPr/>
        </p:nvSpPr>
        <p:spPr>
          <a:xfrm>
            <a:off x="4656065" y="798595"/>
            <a:ext cx="4125077" cy="384045"/>
          </a:xfrm>
          <a:prstGeom prst="rect">
            <a:avLst/>
          </a:prstGeom>
          <a:noFill/>
        </p:spPr>
        <p:txBody>
          <a:bodyPr wrap="none" rtlCol="0">
            <a:spAutoFit/>
          </a:bodyPr>
          <a:lstStyle/>
          <a:p>
            <a:r>
              <a:rPr lang="en-IN" sz="1864" dirty="0"/>
              <a:t>ENTITY RELATIONSHIP DIAGRAM </a:t>
            </a:r>
          </a:p>
        </p:txBody>
      </p:sp>
      <p:pic>
        <p:nvPicPr>
          <p:cNvPr id="7" name="Picture 6">
            <a:extLst>
              <a:ext uri="{FF2B5EF4-FFF2-40B4-BE49-F238E27FC236}">
                <a16:creationId xmlns:a16="http://schemas.microsoft.com/office/drawing/2014/main" id="{29146D00-9822-75A6-BCDA-7183D08FB341}"/>
              </a:ext>
            </a:extLst>
          </p:cNvPr>
          <p:cNvPicPr>
            <a:picLocks noChangeAspect="1"/>
          </p:cNvPicPr>
          <p:nvPr/>
        </p:nvPicPr>
        <p:blipFill>
          <a:blip r:embed="rId2"/>
          <a:stretch>
            <a:fillRect/>
          </a:stretch>
        </p:blipFill>
        <p:spPr>
          <a:xfrm>
            <a:off x="874619" y="1359394"/>
            <a:ext cx="10726956" cy="4751231"/>
          </a:xfrm>
          <a:prstGeom prst="rect">
            <a:avLst/>
          </a:prstGeom>
        </p:spPr>
      </p:pic>
    </p:spTree>
    <p:extLst>
      <p:ext uri="{BB962C8B-B14F-4D97-AF65-F5344CB8AC3E}">
        <p14:creationId xmlns:p14="http://schemas.microsoft.com/office/powerpoint/2010/main" val="2492318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628C92-F72B-A08F-1524-972228091A79}"/>
              </a:ext>
            </a:extLst>
          </p:cNvPr>
          <p:cNvSpPr txBox="1"/>
          <p:nvPr/>
        </p:nvSpPr>
        <p:spPr>
          <a:xfrm>
            <a:off x="943753" y="1284761"/>
            <a:ext cx="5746124" cy="4969181"/>
          </a:xfrm>
          <a:prstGeom prst="rect">
            <a:avLst/>
          </a:prstGeom>
          <a:noFill/>
        </p:spPr>
        <p:txBody>
          <a:bodyPr wrap="square">
            <a:spAutoFit/>
          </a:bodyPr>
          <a:lstStyle/>
          <a:p>
            <a:pPr>
              <a:buNone/>
            </a:pPr>
            <a:r>
              <a:rPr lang="en-US" sz="1864" b="1" dirty="0"/>
              <a:t>1. </a:t>
            </a:r>
            <a:r>
              <a:rPr lang="en-US" sz="1864" b="1" dirty="0">
                <a:highlight>
                  <a:srgbClr val="00FF00"/>
                </a:highlight>
              </a:rPr>
              <a:t>Sales Performance</a:t>
            </a:r>
          </a:p>
          <a:p>
            <a:pPr>
              <a:buFont typeface="Arial" panose="020B0604020202020204" pitchFamily="34" charset="0"/>
              <a:buChar char="•"/>
            </a:pPr>
            <a:r>
              <a:rPr lang="en-US" sz="1864" dirty="0"/>
              <a:t>A small number of </a:t>
            </a:r>
            <a:r>
              <a:rPr lang="en-US" sz="1864" b="1" dirty="0"/>
              <a:t>product categories contribute to the majority of total revenue</a:t>
            </a:r>
            <a:r>
              <a:rPr lang="en-US" sz="1864" dirty="0"/>
              <a:t>, indicating strong demand concentration in specific items.</a:t>
            </a:r>
          </a:p>
          <a:p>
            <a:pPr>
              <a:buFont typeface="Arial" panose="020B0604020202020204" pitchFamily="34" charset="0"/>
              <a:buChar char="•"/>
            </a:pPr>
            <a:r>
              <a:rPr lang="en-US" sz="1864" dirty="0"/>
              <a:t>High-performing products consistently generate </a:t>
            </a:r>
            <a:r>
              <a:rPr lang="en-US" sz="1864" b="1" dirty="0"/>
              <a:t>higher order quantities and revenue</a:t>
            </a:r>
            <a:r>
              <a:rPr lang="en-US" sz="1864" dirty="0"/>
              <a:t>, suggesting stable customer demand.</a:t>
            </a:r>
          </a:p>
          <a:p>
            <a:pPr>
              <a:buNone/>
            </a:pPr>
            <a:r>
              <a:rPr lang="en-US" sz="1864" b="1" dirty="0"/>
              <a:t>2. </a:t>
            </a:r>
            <a:r>
              <a:rPr lang="en-US" sz="1864" b="1" dirty="0">
                <a:highlight>
                  <a:srgbClr val="00FF00"/>
                </a:highlight>
              </a:rPr>
              <a:t>Regional Sales Trends</a:t>
            </a:r>
          </a:p>
          <a:p>
            <a:pPr>
              <a:buFont typeface="Arial" panose="020B0604020202020204" pitchFamily="34" charset="0"/>
              <a:buChar char="•"/>
            </a:pPr>
            <a:r>
              <a:rPr lang="en-US" sz="1864" dirty="0"/>
              <a:t>Certain </a:t>
            </a:r>
            <a:r>
              <a:rPr lang="en-US" sz="1864" b="1" dirty="0"/>
              <a:t>states/cities show significantly higher order volumes</a:t>
            </a:r>
            <a:r>
              <a:rPr lang="en-US" sz="1864" dirty="0"/>
              <a:t>, indicating strong market presence in those regions.</a:t>
            </a:r>
          </a:p>
          <a:p>
            <a:pPr>
              <a:buFont typeface="Arial" panose="020B0604020202020204" pitchFamily="34" charset="0"/>
              <a:buChar char="•"/>
            </a:pPr>
            <a:r>
              <a:rPr lang="en-US" sz="1864" dirty="0"/>
              <a:t>Some locations have </a:t>
            </a:r>
            <a:r>
              <a:rPr lang="en-US" sz="1864" b="1" dirty="0"/>
              <a:t>lower sales despite similar product availability</a:t>
            </a:r>
            <a:r>
              <a:rPr lang="en-US" sz="1864" dirty="0"/>
              <a:t>, suggesting potential opportunities for targeted promotions or marketing.</a:t>
            </a:r>
          </a:p>
          <a:p>
            <a:pPr>
              <a:buNone/>
            </a:pPr>
            <a:r>
              <a:rPr lang="en-US" sz="1864" b="1" dirty="0"/>
              <a:t>3. </a:t>
            </a:r>
            <a:r>
              <a:rPr lang="en-US" sz="1864" b="1" dirty="0">
                <a:highlight>
                  <a:srgbClr val="00FF00"/>
                </a:highlight>
              </a:rPr>
              <a:t>Growth Opportunities</a:t>
            </a:r>
          </a:p>
          <a:p>
            <a:pPr>
              <a:buFont typeface="Arial" panose="020B0604020202020204" pitchFamily="34" charset="0"/>
              <a:buChar char="•"/>
            </a:pPr>
            <a:r>
              <a:rPr lang="en-US" sz="1864" dirty="0"/>
              <a:t>Expanding product availability and marketing efforts in </a:t>
            </a:r>
            <a:r>
              <a:rPr lang="en-US" sz="1864" b="1" dirty="0"/>
              <a:t>high-demand regions</a:t>
            </a:r>
            <a:r>
              <a:rPr lang="en-US" sz="1864" dirty="0"/>
              <a:t> can further increase revenue.</a:t>
            </a:r>
          </a:p>
        </p:txBody>
      </p:sp>
      <p:sp>
        <p:nvSpPr>
          <p:cNvPr id="7" name="TextBox 6">
            <a:extLst>
              <a:ext uri="{FF2B5EF4-FFF2-40B4-BE49-F238E27FC236}">
                <a16:creationId xmlns:a16="http://schemas.microsoft.com/office/drawing/2014/main" id="{DD703D34-3A74-D2BF-47E1-2A4BDA9D0030}"/>
              </a:ext>
            </a:extLst>
          </p:cNvPr>
          <p:cNvSpPr txBox="1"/>
          <p:nvPr/>
        </p:nvSpPr>
        <p:spPr>
          <a:xfrm>
            <a:off x="3310373" y="699848"/>
            <a:ext cx="6485692" cy="472362"/>
          </a:xfrm>
          <a:prstGeom prst="rect">
            <a:avLst/>
          </a:prstGeom>
          <a:noFill/>
        </p:spPr>
        <p:txBody>
          <a:bodyPr wrap="square">
            <a:spAutoFit/>
          </a:bodyPr>
          <a:lstStyle/>
          <a:p>
            <a:pPr>
              <a:buNone/>
            </a:pPr>
            <a:r>
              <a:rPr lang="en-US" sz="2431" b="1" dirty="0"/>
              <a:t>Key Observations – Instamart Data Analysis</a:t>
            </a:r>
            <a:endParaRPr lang="en-US" sz="1864" b="1" dirty="0"/>
          </a:p>
        </p:txBody>
      </p:sp>
      <p:sp>
        <p:nvSpPr>
          <p:cNvPr id="9" name="TextBox 8">
            <a:extLst>
              <a:ext uri="{FF2B5EF4-FFF2-40B4-BE49-F238E27FC236}">
                <a16:creationId xmlns:a16="http://schemas.microsoft.com/office/drawing/2014/main" id="{5B56447E-62DD-BA03-ECCF-938C8D3D66B1}"/>
              </a:ext>
            </a:extLst>
          </p:cNvPr>
          <p:cNvSpPr txBox="1"/>
          <p:nvPr/>
        </p:nvSpPr>
        <p:spPr>
          <a:xfrm>
            <a:off x="6689877" y="1113686"/>
            <a:ext cx="4713945" cy="4682307"/>
          </a:xfrm>
          <a:prstGeom prst="rect">
            <a:avLst/>
          </a:prstGeom>
          <a:noFill/>
        </p:spPr>
        <p:txBody>
          <a:bodyPr wrap="square">
            <a:spAutoFit/>
          </a:bodyPr>
          <a:lstStyle/>
          <a:p>
            <a:pPr>
              <a:buNone/>
            </a:pPr>
            <a:r>
              <a:rPr lang="en-US" sz="1864" b="1" dirty="0"/>
              <a:t>4. </a:t>
            </a:r>
            <a:r>
              <a:rPr lang="en-US" sz="1864" b="1" dirty="0">
                <a:highlight>
                  <a:srgbClr val="00FF00"/>
                </a:highlight>
              </a:rPr>
              <a:t>Product Category Performance</a:t>
            </a:r>
          </a:p>
          <a:p>
            <a:pPr>
              <a:buFont typeface="Arial" panose="020B0604020202020204" pitchFamily="34" charset="0"/>
              <a:buChar char="•"/>
            </a:pPr>
            <a:r>
              <a:rPr lang="en-US" sz="1864" dirty="0"/>
              <a:t>A few product categories dominate overall sales, while several categories contribute </a:t>
            </a:r>
            <a:r>
              <a:rPr lang="en-US" sz="1864" b="1" dirty="0"/>
              <a:t>relatively lower revenue and order volume</a:t>
            </a:r>
            <a:r>
              <a:rPr lang="en-US" sz="1864" dirty="0"/>
              <a:t>.</a:t>
            </a:r>
          </a:p>
          <a:p>
            <a:pPr>
              <a:buFont typeface="Arial" panose="020B0604020202020204" pitchFamily="34" charset="0"/>
              <a:buChar char="•"/>
            </a:pPr>
            <a:r>
              <a:rPr lang="en-US" sz="1864" dirty="0"/>
              <a:t>Low-performing categories may require </a:t>
            </a:r>
            <a:r>
              <a:rPr lang="en-US" sz="1864" b="1" dirty="0"/>
              <a:t>pricing strategies, discounts, or improved product visibility</a:t>
            </a:r>
            <a:r>
              <a:rPr lang="en-US" sz="1864" dirty="0"/>
              <a:t>.</a:t>
            </a:r>
          </a:p>
          <a:p>
            <a:pPr>
              <a:buNone/>
            </a:pPr>
            <a:r>
              <a:rPr lang="en-US" sz="1864" b="1" dirty="0"/>
              <a:t>5. </a:t>
            </a:r>
            <a:r>
              <a:rPr lang="en-US" sz="1864" b="1" dirty="0">
                <a:highlight>
                  <a:srgbClr val="00FF00"/>
                </a:highlight>
              </a:rPr>
              <a:t>Order Quantity and Revenue Relationship</a:t>
            </a:r>
          </a:p>
          <a:p>
            <a:pPr>
              <a:buFont typeface="Arial" panose="020B0604020202020204" pitchFamily="34" charset="0"/>
              <a:buChar char="•"/>
            </a:pPr>
            <a:r>
              <a:rPr lang="en-US" sz="1864" dirty="0"/>
              <a:t>Products with </a:t>
            </a:r>
            <a:r>
              <a:rPr lang="en-US" sz="1864" b="1" dirty="0"/>
              <a:t>higher order quantities generally generate higher revenue</a:t>
            </a:r>
            <a:r>
              <a:rPr lang="en-US" sz="1864" dirty="0"/>
              <a:t>, but some high-value products generate strong revenue with fewer orders.</a:t>
            </a:r>
          </a:p>
          <a:p>
            <a:pPr>
              <a:buNone/>
            </a:pPr>
            <a:r>
              <a:rPr lang="en-US" sz="1864" b="1" dirty="0"/>
              <a:t>6. </a:t>
            </a:r>
            <a:r>
              <a:rPr lang="en-US" sz="1864" b="1" dirty="0">
                <a:highlight>
                  <a:srgbClr val="00FF00"/>
                </a:highlight>
              </a:rPr>
              <a:t>Operational Insights</a:t>
            </a:r>
          </a:p>
          <a:p>
            <a:pPr>
              <a:buFont typeface="Arial" panose="020B0604020202020204" pitchFamily="34" charset="0"/>
              <a:buChar char="•"/>
            </a:pPr>
            <a:r>
              <a:rPr lang="en-US" sz="1864" dirty="0"/>
              <a:t>Delivery operations appear concentrated in </a:t>
            </a:r>
            <a:r>
              <a:rPr lang="en-US" sz="1864" b="1" dirty="0"/>
              <a:t>high-demand regions</a:t>
            </a:r>
            <a:r>
              <a:rPr lang="en-US" sz="1864" dirty="0"/>
              <a:t>, which can impact delivery efficiency during peak times.</a:t>
            </a:r>
          </a:p>
        </p:txBody>
      </p:sp>
    </p:spTree>
    <p:extLst>
      <p:ext uri="{BB962C8B-B14F-4D97-AF65-F5344CB8AC3E}">
        <p14:creationId xmlns:p14="http://schemas.microsoft.com/office/powerpoint/2010/main" val="2086770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82209C-F73F-5FC5-4AA4-305EE9FA70CA}"/>
              </a:ext>
            </a:extLst>
          </p:cNvPr>
          <p:cNvSpPr txBox="1"/>
          <p:nvPr/>
        </p:nvSpPr>
        <p:spPr>
          <a:xfrm>
            <a:off x="832013" y="1202916"/>
            <a:ext cx="4767805" cy="3739165"/>
          </a:xfrm>
          <a:prstGeom prst="rect">
            <a:avLst/>
          </a:prstGeom>
          <a:noFill/>
        </p:spPr>
        <p:txBody>
          <a:bodyPr wrap="square">
            <a:spAutoFit/>
          </a:bodyPr>
          <a:lstStyle/>
          <a:p>
            <a:r>
              <a:rPr lang="en-US" sz="1823" dirty="0"/>
              <a:t>Some records contain incomplete or missing values in important fields such as account name, referral source, and signup date, which can affect segmentation and trend analysis. Additionally, multiple rows show default or incorrect date values like “1900 Jan”, indicating possible data entry or system export errors. There are also inconsistencies in categorical fields such as industry, plan type, and country, where naming formats are not standardized. These issues suggest the need for data validation, standardization of categories, and correction of invalid dates before using the dataset for reporting or business insights.</a:t>
            </a:r>
            <a:endParaRPr lang="en-IN" sz="1823" dirty="0"/>
          </a:p>
        </p:txBody>
      </p:sp>
      <p:sp>
        <p:nvSpPr>
          <p:cNvPr id="6" name="TextBox 5">
            <a:extLst>
              <a:ext uri="{FF2B5EF4-FFF2-40B4-BE49-F238E27FC236}">
                <a16:creationId xmlns:a16="http://schemas.microsoft.com/office/drawing/2014/main" id="{F4724BEA-D869-421F-BEF5-676D0DF70D34}"/>
              </a:ext>
            </a:extLst>
          </p:cNvPr>
          <p:cNvSpPr txBox="1"/>
          <p:nvPr/>
        </p:nvSpPr>
        <p:spPr>
          <a:xfrm>
            <a:off x="4929382" y="785462"/>
            <a:ext cx="3419701" cy="598601"/>
          </a:xfrm>
          <a:prstGeom prst="rect">
            <a:avLst/>
          </a:prstGeom>
          <a:noFill/>
        </p:spPr>
        <p:txBody>
          <a:bodyPr wrap="square">
            <a:spAutoFit/>
          </a:bodyPr>
          <a:lstStyle/>
          <a:p>
            <a:r>
              <a:rPr lang="en-IN" sz="3241" dirty="0"/>
              <a:t>Data Discrepancy</a:t>
            </a:r>
            <a:endParaRPr lang="en-IN" sz="1864" dirty="0"/>
          </a:p>
        </p:txBody>
      </p:sp>
      <p:pic>
        <p:nvPicPr>
          <p:cNvPr id="8" name="Picture 7">
            <a:extLst>
              <a:ext uri="{FF2B5EF4-FFF2-40B4-BE49-F238E27FC236}">
                <a16:creationId xmlns:a16="http://schemas.microsoft.com/office/drawing/2014/main" id="{C2596BD1-24E7-E990-4831-A71A169F1EC3}"/>
              </a:ext>
            </a:extLst>
          </p:cNvPr>
          <p:cNvPicPr>
            <a:picLocks noChangeAspect="1"/>
          </p:cNvPicPr>
          <p:nvPr/>
        </p:nvPicPr>
        <p:blipFill>
          <a:blip r:embed="rId2"/>
          <a:stretch>
            <a:fillRect/>
          </a:stretch>
        </p:blipFill>
        <p:spPr>
          <a:xfrm>
            <a:off x="5715577" y="1377698"/>
            <a:ext cx="5799984" cy="4255424"/>
          </a:xfrm>
          <a:prstGeom prst="rect">
            <a:avLst/>
          </a:prstGeom>
        </p:spPr>
      </p:pic>
      <p:cxnSp>
        <p:nvCxnSpPr>
          <p:cNvPr id="13" name="Straight Arrow Connector 12">
            <a:extLst>
              <a:ext uri="{FF2B5EF4-FFF2-40B4-BE49-F238E27FC236}">
                <a16:creationId xmlns:a16="http://schemas.microsoft.com/office/drawing/2014/main" id="{204AE9EE-DE16-4FEC-3FF4-92350AB2C64D}"/>
              </a:ext>
            </a:extLst>
          </p:cNvPr>
          <p:cNvCxnSpPr/>
          <p:nvPr/>
        </p:nvCxnSpPr>
        <p:spPr>
          <a:xfrm flipV="1">
            <a:off x="4218039" y="5058697"/>
            <a:ext cx="4822722" cy="10766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E91A1093-4A43-2D42-1AB2-32AF65AD7031}"/>
              </a:ext>
            </a:extLst>
          </p:cNvPr>
          <p:cNvCxnSpPr>
            <a:cxnSpLocks/>
          </p:cNvCxnSpPr>
          <p:nvPr/>
        </p:nvCxnSpPr>
        <p:spPr>
          <a:xfrm flipV="1">
            <a:off x="4227871" y="3746041"/>
            <a:ext cx="4121212" cy="232659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9" name="TextBox 18">
            <a:extLst>
              <a:ext uri="{FF2B5EF4-FFF2-40B4-BE49-F238E27FC236}">
                <a16:creationId xmlns:a16="http://schemas.microsoft.com/office/drawing/2014/main" id="{3AF409B1-C447-6281-A0C1-C5FD3D650400}"/>
              </a:ext>
            </a:extLst>
          </p:cNvPr>
          <p:cNvSpPr txBox="1"/>
          <p:nvPr/>
        </p:nvSpPr>
        <p:spPr>
          <a:xfrm>
            <a:off x="2618416" y="5919938"/>
            <a:ext cx="6194322" cy="369332"/>
          </a:xfrm>
          <a:prstGeom prst="rect">
            <a:avLst/>
          </a:prstGeom>
          <a:noFill/>
        </p:spPr>
        <p:txBody>
          <a:bodyPr wrap="square">
            <a:spAutoFit/>
          </a:bodyPr>
          <a:lstStyle/>
          <a:p>
            <a:r>
              <a:rPr lang="en-US" sz="1800" dirty="0"/>
              <a:t>Missing values </a:t>
            </a:r>
            <a:endParaRPr lang="en-IN" dirty="0"/>
          </a:p>
        </p:txBody>
      </p:sp>
      <p:sp>
        <p:nvSpPr>
          <p:cNvPr id="22" name="Arc 21">
            <a:extLst>
              <a:ext uri="{FF2B5EF4-FFF2-40B4-BE49-F238E27FC236}">
                <a16:creationId xmlns:a16="http://schemas.microsoft.com/office/drawing/2014/main" id="{C9425C1E-310D-88C0-B6D7-DBCB6809A80E}"/>
              </a:ext>
            </a:extLst>
          </p:cNvPr>
          <p:cNvSpPr/>
          <p:nvPr/>
        </p:nvSpPr>
        <p:spPr>
          <a:xfrm rot="11065220" flipH="1">
            <a:off x="2180324" y="5638053"/>
            <a:ext cx="2079589" cy="756280"/>
          </a:xfrm>
          <a:prstGeom prst="arc">
            <a:avLst>
              <a:gd name="adj1" fmla="val 506145"/>
              <a:gd name="adj2" fmla="val 493898"/>
            </a:avLst>
          </a:pr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IN" b="1" dirty="0"/>
          </a:p>
        </p:txBody>
      </p:sp>
    </p:spTree>
    <p:extLst>
      <p:ext uri="{BB962C8B-B14F-4D97-AF65-F5344CB8AC3E}">
        <p14:creationId xmlns:p14="http://schemas.microsoft.com/office/powerpoint/2010/main" val="2169675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45CDB4-B245-A47F-4A98-D8676C1523F6}"/>
              </a:ext>
            </a:extLst>
          </p:cNvPr>
          <p:cNvPicPr>
            <a:picLocks noChangeAspect="1"/>
          </p:cNvPicPr>
          <p:nvPr/>
        </p:nvPicPr>
        <p:blipFill>
          <a:blip r:embed="rId2"/>
          <a:stretch>
            <a:fillRect/>
          </a:stretch>
        </p:blipFill>
        <p:spPr>
          <a:xfrm>
            <a:off x="834871" y="1415137"/>
            <a:ext cx="10677831" cy="4985663"/>
          </a:xfrm>
          <a:prstGeom prst="rect">
            <a:avLst/>
          </a:prstGeom>
        </p:spPr>
      </p:pic>
      <p:sp>
        <p:nvSpPr>
          <p:cNvPr id="6" name="Rectangle 5">
            <a:extLst>
              <a:ext uri="{FF2B5EF4-FFF2-40B4-BE49-F238E27FC236}">
                <a16:creationId xmlns:a16="http://schemas.microsoft.com/office/drawing/2014/main" id="{74F4AF16-6B84-55D3-8C1C-F53B6F6112E7}"/>
              </a:ext>
            </a:extLst>
          </p:cNvPr>
          <p:cNvSpPr/>
          <p:nvPr/>
        </p:nvSpPr>
        <p:spPr>
          <a:xfrm>
            <a:off x="2284237" y="491807"/>
            <a:ext cx="813306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Project Dashboard No.1</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3688414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335FB1-DAD1-8306-5C83-9F7275839421}"/>
              </a:ext>
            </a:extLst>
          </p:cNvPr>
          <p:cNvSpPr txBox="1"/>
          <p:nvPr/>
        </p:nvSpPr>
        <p:spPr>
          <a:xfrm>
            <a:off x="3304978" y="613947"/>
            <a:ext cx="7092633" cy="830997"/>
          </a:xfrm>
          <a:prstGeom prst="rect">
            <a:avLst/>
          </a:prstGeom>
          <a:noFill/>
        </p:spPr>
        <p:txBody>
          <a:bodyPr wrap="square">
            <a:spAutoFit/>
          </a:bodyPr>
          <a:lstStyle/>
          <a:p>
            <a:r>
              <a:rPr lang="en-US" sz="4800" b="1" cap="none" spc="50" dirty="0">
                <a:ln w="9525" cmpd="sng">
                  <a:solidFill>
                    <a:schemeClr val="accent1"/>
                  </a:solidFill>
                  <a:prstDash val="solid"/>
                </a:ln>
                <a:solidFill>
                  <a:srgbClr val="70AD47">
                    <a:tint val="1000"/>
                  </a:srgbClr>
                </a:solidFill>
                <a:effectLst>
                  <a:glow rad="38100">
                    <a:schemeClr val="accent1">
                      <a:alpha val="40000"/>
                    </a:schemeClr>
                  </a:glow>
                </a:effectLst>
              </a:rPr>
              <a:t>Project Dashboard No.2</a:t>
            </a:r>
            <a:endParaRPr lang="en-IN" dirty="0"/>
          </a:p>
        </p:txBody>
      </p:sp>
      <p:pic>
        <p:nvPicPr>
          <p:cNvPr id="5" name="Picture 4">
            <a:extLst>
              <a:ext uri="{FF2B5EF4-FFF2-40B4-BE49-F238E27FC236}">
                <a16:creationId xmlns:a16="http://schemas.microsoft.com/office/drawing/2014/main" id="{520086B5-FB56-4315-3117-769718274FFD}"/>
              </a:ext>
            </a:extLst>
          </p:cNvPr>
          <p:cNvPicPr>
            <a:picLocks noChangeAspect="1"/>
          </p:cNvPicPr>
          <p:nvPr/>
        </p:nvPicPr>
        <p:blipFill>
          <a:blip r:embed="rId2"/>
          <a:stretch>
            <a:fillRect/>
          </a:stretch>
        </p:blipFill>
        <p:spPr>
          <a:xfrm>
            <a:off x="899652" y="1444945"/>
            <a:ext cx="10633587" cy="4955856"/>
          </a:xfrm>
          <a:prstGeom prst="rect">
            <a:avLst/>
          </a:prstGeom>
        </p:spPr>
      </p:pic>
    </p:spTree>
    <p:extLst>
      <p:ext uri="{BB962C8B-B14F-4D97-AF65-F5344CB8AC3E}">
        <p14:creationId xmlns:p14="http://schemas.microsoft.com/office/powerpoint/2010/main" val="2931095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KPIs</a:t>
            </a:r>
          </a:p>
        </p:txBody>
      </p:sp>
      <p:sp>
        <p:nvSpPr>
          <p:cNvPr id="3" name="Content Placeholder 2"/>
          <p:cNvSpPr>
            <a:spLocks noGrp="1"/>
          </p:cNvSpPr>
          <p:nvPr>
            <p:ph idx="1"/>
          </p:nvPr>
        </p:nvSpPr>
        <p:spPr/>
        <p:txBody>
          <a:bodyPr/>
          <a:lstStyle/>
          <a:p>
            <a:r>
              <a:t>Total Revenue</a:t>
            </a:r>
          </a:p>
          <a:p>
            <a:r>
              <a:t>Total Orders</a:t>
            </a:r>
          </a:p>
          <a:p>
            <a:r>
              <a:t>Average Order Value</a:t>
            </a:r>
          </a:p>
          <a:p>
            <a:r>
              <a:t>Orders per Day</a:t>
            </a:r>
          </a:p>
          <a:p>
            <a:r>
              <a:t>Revenue Growth</a:t>
            </a:r>
          </a:p>
          <a:p>
            <a:r>
              <a:t>Top Performing States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Sales Performance Insights</a:t>
            </a:r>
          </a:p>
        </p:txBody>
      </p:sp>
      <p:sp>
        <p:nvSpPr>
          <p:cNvPr id="3" name="Content Placeholder 2"/>
          <p:cNvSpPr>
            <a:spLocks noGrp="1"/>
          </p:cNvSpPr>
          <p:nvPr>
            <p:ph idx="1"/>
          </p:nvPr>
        </p:nvSpPr>
        <p:spPr/>
        <p:txBody>
          <a:bodyPr/>
          <a:lstStyle/>
          <a:p>
            <a:r>
              <a:t>Revenue trend analysis</a:t>
            </a:r>
          </a:p>
          <a:p>
            <a:r>
              <a:t>Monthly growth tracking</a:t>
            </a:r>
          </a:p>
          <a:p>
            <a:r>
              <a:t>Identification of high demand products</a:t>
            </a:r>
          </a:p>
          <a:p>
            <a:r>
              <a:t>Seasonal order pattern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Product Category Analysis</a:t>
            </a:r>
          </a:p>
        </p:txBody>
      </p:sp>
      <p:sp>
        <p:nvSpPr>
          <p:cNvPr id="3" name="Content Placeholder 2"/>
          <p:cNvSpPr>
            <a:spLocks noGrp="1"/>
          </p:cNvSpPr>
          <p:nvPr>
            <p:ph idx="1"/>
          </p:nvPr>
        </p:nvSpPr>
        <p:spPr/>
        <p:txBody>
          <a:bodyPr/>
          <a:lstStyle/>
          <a:p>
            <a:r>
              <a:t>Top selling product categories</a:t>
            </a:r>
          </a:p>
          <a:p>
            <a:r>
              <a:t>Quantity vs revenue comparison</a:t>
            </a:r>
          </a:p>
          <a:p>
            <a:r>
              <a:t>Identification of slow moving items</a:t>
            </a:r>
          </a:p>
          <a:p>
            <a:r>
              <a:t>Demand distribution across categories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Location Analysis</a:t>
            </a:r>
          </a:p>
        </p:txBody>
      </p:sp>
      <p:sp>
        <p:nvSpPr>
          <p:cNvPr id="3" name="Content Placeholder 2"/>
          <p:cNvSpPr>
            <a:spLocks noGrp="1"/>
          </p:cNvSpPr>
          <p:nvPr>
            <p:ph idx="1"/>
          </p:nvPr>
        </p:nvSpPr>
        <p:spPr/>
        <p:txBody>
          <a:bodyPr/>
          <a:lstStyle/>
          <a:p>
            <a:r>
              <a:t>State-wise revenue comparison</a:t>
            </a:r>
          </a:p>
          <a:p>
            <a:r>
              <a:t>City-level order distribution</a:t>
            </a:r>
          </a:p>
          <a:p>
            <a:r>
              <a:t>Identification of top performing markets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41824B-69A3-792C-BB10-F72B802E9245}"/>
              </a:ext>
            </a:extLst>
          </p:cNvPr>
          <p:cNvSpPr txBox="1"/>
          <p:nvPr/>
        </p:nvSpPr>
        <p:spPr>
          <a:xfrm>
            <a:off x="1592826" y="1386348"/>
            <a:ext cx="2197509" cy="369332"/>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25599BF5-8AC8-08CE-3A93-31EE11195985}"/>
              </a:ext>
            </a:extLst>
          </p:cNvPr>
          <p:cNvSpPr txBox="1"/>
          <p:nvPr/>
        </p:nvSpPr>
        <p:spPr>
          <a:xfrm>
            <a:off x="1386348" y="1386348"/>
            <a:ext cx="4353949" cy="4339650"/>
          </a:xfrm>
          <a:prstGeom prst="rect">
            <a:avLst/>
          </a:prstGeom>
          <a:noFill/>
        </p:spPr>
        <p:txBody>
          <a:bodyPr wrap="square" rtlCol="0">
            <a:spAutoFit/>
          </a:bodyPr>
          <a:lstStyle/>
          <a:p>
            <a:r>
              <a:rPr lang="en-US" sz="2000" b="1" dirty="0">
                <a:highlight>
                  <a:srgbClr val="FFFF00"/>
                </a:highlight>
              </a:rPr>
              <a:t>1.Data Accuracy</a:t>
            </a:r>
            <a:br>
              <a:rPr lang="en-US" dirty="0"/>
            </a:br>
            <a:r>
              <a:rPr lang="en-US" dirty="0"/>
              <a:t>It is assumed that the dataset used for the analysis is accurate and represents real Instamart order transactions without major data entry errors.</a:t>
            </a:r>
            <a:br>
              <a:rPr lang="en-US" dirty="0"/>
            </a:br>
            <a:r>
              <a:rPr lang="en-US" b="1" dirty="0">
                <a:highlight>
                  <a:srgbClr val="FFFF00"/>
                </a:highlight>
              </a:rPr>
              <a:t>2.</a:t>
            </a:r>
            <a:r>
              <a:rPr lang="en-US" sz="2000" b="1" dirty="0">
                <a:highlight>
                  <a:srgbClr val="FFFF00"/>
                </a:highlight>
              </a:rPr>
              <a:t>Complete Order Records</a:t>
            </a:r>
            <a:br>
              <a:rPr lang="en-US" dirty="0"/>
            </a:br>
            <a:r>
              <a:rPr lang="en-US" dirty="0"/>
              <a:t>Each order record contains correct information such as </a:t>
            </a:r>
            <a:r>
              <a:rPr lang="en-US" b="1" dirty="0"/>
              <a:t>product, quantity, price, and location</a:t>
            </a:r>
            <a:r>
              <a:rPr lang="en-US" dirty="0"/>
              <a:t>, and missing values have been handled during data cleaning.</a:t>
            </a:r>
            <a:br>
              <a:rPr lang="en-US" b="1" dirty="0"/>
            </a:br>
            <a:r>
              <a:rPr lang="en-US" b="1" dirty="0">
                <a:highlight>
                  <a:srgbClr val="FFFF00"/>
                </a:highlight>
              </a:rPr>
              <a:t>3.</a:t>
            </a:r>
            <a:r>
              <a:rPr lang="en-US" sz="2000" b="1" dirty="0">
                <a:highlight>
                  <a:srgbClr val="FFFF00"/>
                </a:highlight>
              </a:rPr>
              <a:t>Revenue Calculation</a:t>
            </a:r>
            <a:br>
              <a:rPr lang="en-US" dirty="0"/>
            </a:br>
            <a:r>
              <a:rPr lang="en-US" dirty="0"/>
              <a:t>Total revenue is calculated based on the </a:t>
            </a:r>
            <a:r>
              <a:rPr lang="en-US" b="1" dirty="0"/>
              <a:t>product price multiplied by quantity ordered</a:t>
            </a:r>
            <a:r>
              <a:rPr lang="en-US" dirty="0"/>
              <a:t>, assuming no additional discounts or taxes unless explicitly included in the dataset.</a:t>
            </a:r>
            <a:endParaRPr lang="en-IN" dirty="0"/>
          </a:p>
        </p:txBody>
      </p:sp>
      <p:sp>
        <p:nvSpPr>
          <p:cNvPr id="12" name="TextBox 11">
            <a:extLst>
              <a:ext uri="{FF2B5EF4-FFF2-40B4-BE49-F238E27FC236}">
                <a16:creationId xmlns:a16="http://schemas.microsoft.com/office/drawing/2014/main" id="{D04B6E2A-DA2B-98B3-BA70-6B82BD63A3EA}"/>
              </a:ext>
            </a:extLst>
          </p:cNvPr>
          <p:cNvSpPr txBox="1"/>
          <p:nvPr/>
        </p:nvSpPr>
        <p:spPr>
          <a:xfrm>
            <a:off x="6400800" y="1386348"/>
            <a:ext cx="4353949" cy="4647426"/>
          </a:xfrm>
          <a:prstGeom prst="rect">
            <a:avLst/>
          </a:prstGeom>
          <a:noFill/>
        </p:spPr>
        <p:txBody>
          <a:bodyPr wrap="square" rtlCol="0">
            <a:spAutoFit/>
          </a:bodyPr>
          <a:lstStyle/>
          <a:p>
            <a:r>
              <a:rPr lang="en-US" sz="2000" b="1" dirty="0">
                <a:highlight>
                  <a:srgbClr val="FFFF00"/>
                </a:highlight>
              </a:rPr>
              <a:t>4.Customer Demand Representation</a:t>
            </a:r>
            <a:br>
              <a:rPr lang="en-US" dirty="0"/>
            </a:br>
            <a:r>
              <a:rPr lang="en-US" dirty="0"/>
              <a:t>The order data is assumed to reflect </a:t>
            </a:r>
            <a:r>
              <a:rPr lang="en-US" b="1" dirty="0"/>
              <a:t>actual customer purchasing behavior</a:t>
            </a:r>
            <a:r>
              <a:rPr lang="en-US" dirty="0"/>
              <a:t>, helping identify product demand and sales patterns.</a:t>
            </a:r>
            <a:br>
              <a:rPr lang="en-US" dirty="0"/>
            </a:br>
            <a:r>
              <a:rPr lang="en-US" b="1" dirty="0">
                <a:highlight>
                  <a:srgbClr val="FFFF00"/>
                </a:highlight>
              </a:rPr>
              <a:t>5.</a:t>
            </a:r>
            <a:r>
              <a:rPr lang="en-US" sz="2000" b="1" dirty="0">
                <a:highlight>
                  <a:srgbClr val="FFFF00"/>
                </a:highlight>
              </a:rPr>
              <a:t>Location Data Reliability</a:t>
            </a:r>
            <a:br>
              <a:rPr lang="en-US" dirty="0"/>
            </a:br>
            <a:r>
              <a:rPr lang="en-US" dirty="0"/>
              <a:t>The </a:t>
            </a:r>
            <a:r>
              <a:rPr lang="en-US" b="1" dirty="0"/>
              <a:t>state and city information</a:t>
            </a:r>
            <a:r>
              <a:rPr lang="en-US" dirty="0"/>
              <a:t> in the dataset is assumed to be correct and used for analyzing regional sales performance.</a:t>
            </a:r>
            <a:br>
              <a:rPr lang="en-US" dirty="0"/>
            </a:br>
            <a:r>
              <a:rPr lang="en-US" b="1" dirty="0">
                <a:highlight>
                  <a:srgbClr val="FFFF00"/>
                </a:highlight>
              </a:rPr>
              <a:t>6.</a:t>
            </a:r>
            <a:r>
              <a:rPr lang="en-US" sz="2000" b="1" dirty="0">
                <a:highlight>
                  <a:srgbClr val="FFFF00"/>
                </a:highlight>
              </a:rPr>
              <a:t>Time-Based Analysis</a:t>
            </a:r>
            <a:br>
              <a:rPr lang="en-US" dirty="0"/>
            </a:br>
            <a:r>
              <a:rPr lang="en-US" dirty="0"/>
              <a:t>Order date and time fields are assumed to be correctly recorded, enabling accurate </a:t>
            </a:r>
            <a:r>
              <a:rPr lang="en-US" b="1" dirty="0"/>
              <a:t>daily, monthly, and yearly sales trend analysis</a:t>
            </a:r>
            <a:r>
              <a:rPr lang="en-US" dirty="0"/>
              <a:t>.</a:t>
            </a:r>
            <a:br>
              <a:rPr lang="en-US" dirty="0"/>
            </a:br>
            <a:r>
              <a:rPr lang="en-US" b="1" dirty="0">
                <a:highlight>
                  <a:srgbClr val="FFFF00"/>
                </a:highlight>
              </a:rPr>
              <a:t>7.</a:t>
            </a:r>
            <a:r>
              <a:rPr lang="en-US" sz="2000" b="1" dirty="0">
                <a:highlight>
                  <a:srgbClr val="FFFF00"/>
                </a:highlight>
              </a:rPr>
              <a:t>Product Category Classification</a:t>
            </a:r>
            <a:br>
              <a:rPr lang="en-US" dirty="0"/>
            </a:br>
            <a:r>
              <a:rPr lang="en-US" dirty="0"/>
              <a:t>Each product is assumed to belong to the correct category, which is used to analyze </a:t>
            </a:r>
            <a:r>
              <a:rPr lang="en-US" b="1" dirty="0"/>
              <a:t>category-level sales performance</a:t>
            </a:r>
            <a:r>
              <a:rPr lang="en-US" dirty="0"/>
              <a:t>.</a:t>
            </a:r>
            <a:endParaRPr lang="en-IN" dirty="0"/>
          </a:p>
        </p:txBody>
      </p:sp>
      <p:sp>
        <p:nvSpPr>
          <p:cNvPr id="14" name="TextBox 13">
            <a:extLst>
              <a:ext uri="{FF2B5EF4-FFF2-40B4-BE49-F238E27FC236}">
                <a16:creationId xmlns:a16="http://schemas.microsoft.com/office/drawing/2014/main" id="{5E4FB80F-54E6-C252-F402-4D56198B3444}"/>
              </a:ext>
            </a:extLst>
          </p:cNvPr>
          <p:cNvSpPr txBox="1"/>
          <p:nvPr/>
        </p:nvSpPr>
        <p:spPr>
          <a:xfrm>
            <a:off x="4321278" y="513119"/>
            <a:ext cx="3229896" cy="769441"/>
          </a:xfrm>
          <a:prstGeom prst="rect">
            <a:avLst/>
          </a:prstGeom>
          <a:noFill/>
        </p:spPr>
        <p:txBody>
          <a:bodyPr wrap="square">
            <a:spAutoFit/>
          </a:bodyPr>
          <a:lstStyle/>
          <a:p>
            <a:r>
              <a:rPr lang="en-IN" sz="4400" dirty="0"/>
              <a:t>Assumptions</a:t>
            </a:r>
          </a:p>
        </p:txBody>
      </p:sp>
    </p:spTree>
    <p:extLst>
      <p:ext uri="{BB962C8B-B14F-4D97-AF65-F5344CB8AC3E}">
        <p14:creationId xmlns:p14="http://schemas.microsoft.com/office/powerpoint/2010/main" val="2165746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6228DC-4B81-D2A6-6710-1FB1876A236D}"/>
              </a:ext>
            </a:extLst>
          </p:cNvPr>
          <p:cNvSpPr txBox="1"/>
          <p:nvPr/>
        </p:nvSpPr>
        <p:spPr>
          <a:xfrm>
            <a:off x="902830" y="1114966"/>
            <a:ext cx="10409183" cy="5539978"/>
          </a:xfrm>
          <a:prstGeom prst="rect">
            <a:avLst/>
          </a:prstGeom>
          <a:noFill/>
        </p:spPr>
        <p:txBody>
          <a:bodyPr wrap="square">
            <a:spAutoFit/>
          </a:bodyPr>
          <a:lstStyle/>
          <a:p>
            <a:pPr>
              <a:buNone/>
            </a:pPr>
            <a:r>
              <a:rPr lang="en-US" sz="2000" b="1" dirty="0"/>
              <a:t>1. Data Cleaning and Preprocessing</a:t>
            </a:r>
          </a:p>
          <a:p>
            <a:pPr>
              <a:buNone/>
            </a:pPr>
            <a:r>
              <a:rPr lang="en-US" dirty="0"/>
              <a:t>The dataset contained </a:t>
            </a:r>
            <a:r>
              <a:rPr lang="en-US" b="1" dirty="0"/>
              <a:t>inconsistent formats, missing values, and duplicate records</a:t>
            </a:r>
            <a:r>
              <a:rPr lang="en-US" dirty="0"/>
              <a:t>, which required significant data cleaning before analysis.</a:t>
            </a:r>
          </a:p>
          <a:p>
            <a:pPr>
              <a:buNone/>
            </a:pPr>
            <a:r>
              <a:rPr lang="en-US" sz="2000" b="1" dirty="0"/>
              <a:t>2. Data Integration</a:t>
            </a:r>
          </a:p>
          <a:p>
            <a:pPr>
              <a:buNone/>
            </a:pPr>
            <a:r>
              <a:rPr lang="en-US" dirty="0"/>
              <a:t>The project involved </a:t>
            </a:r>
            <a:r>
              <a:rPr lang="en-US" b="1" dirty="0"/>
              <a:t>multiple tables (orders, products, locations, delivery partners)</a:t>
            </a:r>
            <a:r>
              <a:rPr lang="en-US" dirty="0"/>
              <a:t> that needed to be properly connected using relationships in </a:t>
            </a:r>
            <a:r>
              <a:rPr lang="en-US" b="1" dirty="0"/>
              <a:t>Power BI data modeling</a:t>
            </a:r>
            <a:r>
              <a:rPr lang="en-US" dirty="0"/>
              <a:t>.</a:t>
            </a:r>
          </a:p>
          <a:p>
            <a:pPr>
              <a:buNone/>
            </a:pPr>
            <a:r>
              <a:rPr lang="en-US" sz="2000" b="1" dirty="0"/>
              <a:t>3. Handling Large Data Volume</a:t>
            </a:r>
          </a:p>
          <a:p>
            <a:pPr>
              <a:buNone/>
            </a:pPr>
            <a:r>
              <a:rPr lang="en-US" dirty="0"/>
              <a:t>The dataset included a </a:t>
            </a:r>
            <a:r>
              <a:rPr lang="en-US" b="1" dirty="0"/>
              <a:t>large number of order transactions</a:t>
            </a:r>
            <a:r>
              <a:rPr lang="en-US" dirty="0"/>
              <a:t>, which required optimized queries and efficient data modeling to ensure smooth report performance.</a:t>
            </a:r>
          </a:p>
          <a:p>
            <a:pPr>
              <a:buNone/>
            </a:pPr>
            <a:r>
              <a:rPr lang="en-US" sz="2000" b="1" dirty="0"/>
              <a:t>4. DAX Calculations</a:t>
            </a:r>
          </a:p>
          <a:p>
            <a:pPr>
              <a:buNone/>
            </a:pPr>
            <a:r>
              <a:rPr lang="en-US" dirty="0"/>
              <a:t>Creating advanced metrics such as </a:t>
            </a:r>
            <a:r>
              <a:rPr lang="en-US" b="1" dirty="0"/>
              <a:t>revenue growth, average order value (AOV), and ranking of top products/states</a:t>
            </a:r>
            <a:r>
              <a:rPr lang="en-US" dirty="0"/>
              <a:t> required writing and optimizing </a:t>
            </a:r>
            <a:r>
              <a:rPr lang="en-US" b="1" dirty="0"/>
              <a:t>DAX formulas</a:t>
            </a:r>
            <a:r>
              <a:rPr lang="en-US" dirty="0"/>
              <a:t>.</a:t>
            </a:r>
            <a:br>
              <a:rPr lang="en-US" dirty="0"/>
            </a:br>
            <a:r>
              <a:rPr lang="en-US" sz="2000" b="1" dirty="0"/>
              <a:t>5. Dashboard Design</a:t>
            </a:r>
          </a:p>
          <a:p>
            <a:pPr>
              <a:buNone/>
            </a:pPr>
            <a:r>
              <a:rPr lang="en-US" dirty="0"/>
              <a:t>Designing a dashboard that is </a:t>
            </a:r>
            <a:r>
              <a:rPr lang="en-US" b="1" dirty="0"/>
              <a:t>clear, interactive, and visually meaningful</a:t>
            </a:r>
            <a:r>
              <a:rPr lang="en-US" dirty="0"/>
              <a:t> while presenting multiple KPIs and insights was a challenge.</a:t>
            </a:r>
          </a:p>
          <a:p>
            <a:pPr>
              <a:buNone/>
            </a:pPr>
            <a:r>
              <a:rPr lang="en-US" sz="2000" b="1" dirty="0"/>
              <a:t>6. Insight Generation</a:t>
            </a:r>
          </a:p>
          <a:p>
            <a:pPr>
              <a:buNone/>
            </a:pPr>
            <a:r>
              <a:rPr lang="en-US" dirty="0"/>
              <a:t>Transforming raw data into </a:t>
            </a:r>
            <a:r>
              <a:rPr lang="en-US" b="1" dirty="0"/>
              <a:t>meaningful business insights</a:t>
            </a:r>
            <a:r>
              <a:rPr lang="en-US" dirty="0"/>
              <a:t> required careful analysis of sales trends, product performance, and regional demand patterns.</a:t>
            </a:r>
          </a:p>
          <a:p>
            <a:pPr>
              <a:buNone/>
            </a:pPr>
            <a:endParaRPr lang="en-US" dirty="0"/>
          </a:p>
        </p:txBody>
      </p:sp>
      <p:sp>
        <p:nvSpPr>
          <p:cNvPr id="5" name="TextBox 4">
            <a:extLst>
              <a:ext uri="{FF2B5EF4-FFF2-40B4-BE49-F238E27FC236}">
                <a16:creationId xmlns:a16="http://schemas.microsoft.com/office/drawing/2014/main" id="{3958ED90-C1F0-1389-2CE2-508408D75FC4}"/>
              </a:ext>
            </a:extLst>
          </p:cNvPr>
          <p:cNvSpPr txBox="1"/>
          <p:nvPr/>
        </p:nvSpPr>
        <p:spPr>
          <a:xfrm>
            <a:off x="4173793" y="745634"/>
            <a:ext cx="6194322" cy="400110"/>
          </a:xfrm>
          <a:prstGeom prst="rect">
            <a:avLst/>
          </a:prstGeom>
          <a:noFill/>
        </p:spPr>
        <p:txBody>
          <a:bodyPr wrap="square">
            <a:spAutoFit/>
          </a:bodyPr>
          <a:lstStyle/>
          <a:p>
            <a:pPr>
              <a:buNone/>
            </a:pPr>
            <a:r>
              <a:rPr lang="en-US" sz="2000" b="1" dirty="0"/>
              <a:t>Challenges Faced During the Project</a:t>
            </a:r>
          </a:p>
        </p:txBody>
      </p:sp>
    </p:spTree>
    <p:extLst>
      <p:ext uri="{BB962C8B-B14F-4D97-AF65-F5344CB8AC3E}">
        <p14:creationId xmlns:p14="http://schemas.microsoft.com/office/powerpoint/2010/main" val="4016406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Operational Insights</a:t>
            </a:r>
          </a:p>
        </p:txBody>
      </p:sp>
      <p:sp>
        <p:nvSpPr>
          <p:cNvPr id="3" name="Content Placeholder 2"/>
          <p:cNvSpPr>
            <a:spLocks noGrp="1"/>
          </p:cNvSpPr>
          <p:nvPr>
            <p:ph idx="1"/>
          </p:nvPr>
        </p:nvSpPr>
        <p:spPr/>
        <p:txBody>
          <a:bodyPr/>
          <a:lstStyle/>
          <a:p>
            <a:r>
              <a:t>Delivery partner performance</a:t>
            </a:r>
          </a:p>
          <a:p>
            <a:r>
              <a:t>Order fulfillment trends</a:t>
            </a:r>
          </a:p>
          <a:p>
            <a:r>
              <a:t>Operational efficiency indicators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Conclusion &amp; </a:t>
            </a:r>
            <a:r>
              <a:rPr lang="en-US" dirty="0"/>
              <a:t>Business Impact</a:t>
            </a:r>
            <a:br>
              <a:rPr lang="en-US" dirty="0"/>
            </a:br>
            <a:r>
              <a:rPr dirty="0"/>
              <a:t>Recommendations</a:t>
            </a:r>
          </a:p>
        </p:txBody>
      </p:sp>
      <p:sp>
        <p:nvSpPr>
          <p:cNvPr id="3" name="Content Placeholder 2"/>
          <p:cNvSpPr>
            <a:spLocks noGrp="1"/>
          </p:cNvSpPr>
          <p:nvPr>
            <p:ph idx="1"/>
          </p:nvPr>
        </p:nvSpPr>
        <p:spPr/>
        <p:txBody>
          <a:bodyPr>
            <a:normAutofit fontScale="85000" lnSpcReduction="20000"/>
          </a:bodyPr>
          <a:lstStyle/>
          <a:p>
            <a:r>
              <a:rPr dirty="0"/>
              <a:t>Focus on high demand categories</a:t>
            </a:r>
          </a:p>
          <a:p>
            <a:r>
              <a:rPr dirty="0"/>
              <a:t>Expand operations in top performing cities</a:t>
            </a:r>
          </a:p>
          <a:p>
            <a:r>
              <a:rPr dirty="0"/>
              <a:t>Optimize delivery partner allocation</a:t>
            </a:r>
          </a:p>
          <a:p>
            <a:r>
              <a:rPr dirty="0"/>
              <a:t>Use dashboards for continuous monitoring</a:t>
            </a:r>
            <a:endParaRPr lang="en-IN" dirty="0"/>
          </a:p>
          <a:p>
            <a:r>
              <a:rPr lang="en-US" dirty="0"/>
              <a:t>Identify high-performing products and categories</a:t>
            </a:r>
          </a:p>
          <a:p>
            <a:r>
              <a:rPr lang="en-US" dirty="0"/>
              <a:t>Optimize inventory and stock planning</a:t>
            </a:r>
          </a:p>
          <a:p>
            <a:r>
              <a:rPr lang="en-US" dirty="0"/>
              <a:t>Improve delivery operations and order fulfillment</a:t>
            </a:r>
          </a:p>
          <a:p>
            <a:r>
              <a:rPr lang="en-US" dirty="0"/>
              <a:t>Support regional expansion strategies</a:t>
            </a:r>
          </a:p>
          <a:p>
            <a:pPr marL="0" indent="0">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B27146-B5B1-68DF-1652-C8E76872098A}"/>
              </a:ext>
            </a:extLst>
          </p:cNvPr>
          <p:cNvSpPr/>
          <p:nvPr/>
        </p:nvSpPr>
        <p:spPr>
          <a:xfrm>
            <a:off x="3529874" y="2055137"/>
            <a:ext cx="5923842" cy="2554545"/>
          </a:xfrm>
          <a:prstGeom prst="rect">
            <a:avLst/>
          </a:prstGeom>
          <a:noFill/>
        </p:spPr>
        <p:txBody>
          <a:bodyPr wrap="squar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 </a:t>
            </a:r>
            <a:b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br>
            <a:r>
              <a:rPr lang="en-IN"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endPar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3" name="TextBox 2">
            <a:extLst>
              <a:ext uri="{FF2B5EF4-FFF2-40B4-BE49-F238E27FC236}">
                <a16:creationId xmlns:a16="http://schemas.microsoft.com/office/drawing/2014/main" id="{24F1D8BB-9D3C-0174-FF4B-7F2D43029B54}"/>
              </a:ext>
            </a:extLst>
          </p:cNvPr>
          <p:cNvSpPr txBox="1"/>
          <p:nvPr/>
        </p:nvSpPr>
        <p:spPr>
          <a:xfrm>
            <a:off x="10343721" y="5824991"/>
            <a:ext cx="1101584" cy="369332"/>
          </a:xfrm>
          <a:prstGeom prst="rect">
            <a:avLst/>
          </a:prstGeom>
          <a:noFill/>
        </p:spPr>
        <p:txBody>
          <a:bodyPr wrap="none" rtlCol="0">
            <a:spAutoFit/>
          </a:bodyPr>
          <a:lstStyle/>
          <a:p>
            <a:r>
              <a:rPr lang="en-IN" dirty="0"/>
              <a:t>Suraj sahu</a:t>
            </a:r>
          </a:p>
        </p:txBody>
      </p:sp>
    </p:spTree>
    <p:extLst>
      <p:ext uri="{BB962C8B-B14F-4D97-AF65-F5344CB8AC3E}">
        <p14:creationId xmlns:p14="http://schemas.microsoft.com/office/powerpoint/2010/main" val="248537131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245</TotalTime>
  <Words>1075</Words>
  <Application>Microsoft Office PowerPoint</Application>
  <PresentationFormat>Custom</PresentationFormat>
  <Paragraphs>114</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Garamond</vt:lpstr>
      <vt:lpstr>Organic</vt:lpstr>
      <vt:lpstr>Instamart Sales &amp; Operations Analysis </vt:lpstr>
      <vt:lpstr>Project Overview</vt:lpstr>
      <vt:lpstr>Business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KPIs</vt:lpstr>
      <vt:lpstr>Sales Performance Insights</vt:lpstr>
      <vt:lpstr>Product Category Analysis</vt:lpstr>
      <vt:lpstr>Location Analysis</vt:lpstr>
      <vt:lpstr>PowerPoint Presentation</vt:lpstr>
      <vt:lpstr>PowerPoint Presentation</vt:lpstr>
      <vt:lpstr>Operational Insights</vt:lpstr>
      <vt:lpstr>Conclusion &amp; Business Impact Recommendations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Suraj Sahu</cp:lastModifiedBy>
  <cp:revision>7</cp:revision>
  <dcterms:created xsi:type="dcterms:W3CDTF">2013-01-27T09:14:16Z</dcterms:created>
  <dcterms:modified xsi:type="dcterms:W3CDTF">2026-03-08T10:53:43Z</dcterms:modified>
  <cp:category/>
</cp:coreProperties>
</file>